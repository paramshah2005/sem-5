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843" r:id="rId2"/>
    <p:sldId id="835" r:id="rId3"/>
    <p:sldId id="840" r:id="rId4"/>
    <p:sldId id="842" r:id="rId5"/>
    <p:sldId id="833" r:id="rId6"/>
    <p:sldId id="841" r:id="rId7"/>
    <p:sldId id="834" r:id="rId8"/>
    <p:sldId id="836" r:id="rId9"/>
    <p:sldId id="837" r:id="rId10"/>
    <p:sldId id="256" r:id="rId11"/>
    <p:sldId id="257" r:id="rId12"/>
    <p:sldId id="844" r:id="rId13"/>
    <p:sldId id="845" r:id="rId14"/>
    <p:sldId id="846" r:id="rId15"/>
    <p:sldId id="847" r:id="rId16"/>
    <p:sldId id="848" r:id="rId17"/>
    <p:sldId id="849" r:id="rId18"/>
    <p:sldId id="850" r:id="rId19"/>
    <p:sldId id="851" r:id="rId20"/>
    <p:sldId id="852" r:id="rId21"/>
    <p:sldId id="858" r:id="rId22"/>
    <p:sldId id="859" r:id="rId23"/>
    <p:sldId id="860" r:id="rId24"/>
    <p:sldId id="861" r:id="rId25"/>
    <p:sldId id="862" r:id="rId26"/>
    <p:sldId id="863" r:id="rId27"/>
    <p:sldId id="853" r:id="rId28"/>
    <p:sldId id="864" r:id="rId29"/>
    <p:sldId id="865" r:id="rId30"/>
    <p:sldId id="854" r:id="rId31"/>
    <p:sldId id="855" r:id="rId32"/>
    <p:sldId id="856" r:id="rId33"/>
    <p:sldId id="85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36576-3B99-4FB1-812A-BA7CAF7431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D43046-42E8-4BFC-A8BF-EDD4EE9562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C68C834-7C42-4402-988E-3D6FEB393BB9}"/>
              </a:ext>
            </a:extLst>
          </p:cNvPr>
          <p:cNvSpPr>
            <a:spLocks noGrp="1"/>
          </p:cNvSpPr>
          <p:nvPr>
            <p:ph type="dt" sz="half" idx="10"/>
          </p:nvPr>
        </p:nvSpPr>
        <p:spPr/>
        <p:txBody>
          <a:bodyPr/>
          <a:lstStyle/>
          <a:p>
            <a:fld id="{C5D921BE-59DD-4538-87FD-A5773314CE30}" type="datetimeFigureOut">
              <a:rPr lang="en-IN" smtClean="0"/>
              <a:t>23-08-2026</a:t>
            </a:fld>
            <a:endParaRPr lang="en-IN"/>
          </a:p>
        </p:txBody>
      </p:sp>
      <p:sp>
        <p:nvSpPr>
          <p:cNvPr id="5" name="Footer Placeholder 4">
            <a:extLst>
              <a:ext uri="{FF2B5EF4-FFF2-40B4-BE49-F238E27FC236}">
                <a16:creationId xmlns:a16="http://schemas.microsoft.com/office/drawing/2014/main" id="{4C11E5FB-C56A-4714-B1A0-51F4FAC2AB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054BD3-1641-48D4-BD34-154E75631602}"/>
              </a:ext>
            </a:extLst>
          </p:cNvPr>
          <p:cNvSpPr>
            <a:spLocks noGrp="1"/>
          </p:cNvSpPr>
          <p:nvPr>
            <p:ph type="sldNum" sz="quarter" idx="12"/>
          </p:nvPr>
        </p:nvSpPr>
        <p:spPr/>
        <p:txBody>
          <a:bodyPr/>
          <a:lstStyle/>
          <a:p>
            <a:fld id="{08E8A4CE-B313-45AA-A7F2-FC9E1099E5D6}" type="slidenum">
              <a:rPr lang="en-IN" smtClean="0"/>
              <a:t>‹#›</a:t>
            </a:fld>
            <a:endParaRPr lang="en-IN"/>
          </a:p>
        </p:txBody>
      </p:sp>
    </p:spTree>
    <p:extLst>
      <p:ext uri="{BB962C8B-B14F-4D97-AF65-F5344CB8AC3E}">
        <p14:creationId xmlns:p14="http://schemas.microsoft.com/office/powerpoint/2010/main" val="3440812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75C6A-BC27-4C5A-88DA-37D1A1FD3B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38A3954-CEFA-43DE-8774-5F665DC2170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C75D25-8702-4008-A9DB-C2D40ABE24A3}"/>
              </a:ext>
            </a:extLst>
          </p:cNvPr>
          <p:cNvSpPr>
            <a:spLocks noGrp="1"/>
          </p:cNvSpPr>
          <p:nvPr>
            <p:ph type="dt" sz="half" idx="10"/>
          </p:nvPr>
        </p:nvSpPr>
        <p:spPr/>
        <p:txBody>
          <a:bodyPr/>
          <a:lstStyle/>
          <a:p>
            <a:fld id="{C5D921BE-59DD-4538-87FD-A5773314CE30}" type="datetimeFigureOut">
              <a:rPr lang="en-IN" smtClean="0"/>
              <a:t>23-08-2026</a:t>
            </a:fld>
            <a:endParaRPr lang="en-IN"/>
          </a:p>
        </p:txBody>
      </p:sp>
      <p:sp>
        <p:nvSpPr>
          <p:cNvPr id="5" name="Footer Placeholder 4">
            <a:extLst>
              <a:ext uri="{FF2B5EF4-FFF2-40B4-BE49-F238E27FC236}">
                <a16:creationId xmlns:a16="http://schemas.microsoft.com/office/drawing/2014/main" id="{15A7ED5E-C1C8-4531-A3D2-BA0ACD198A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84197E-D2FA-4E1E-9DA2-9CD9512DBFD1}"/>
              </a:ext>
            </a:extLst>
          </p:cNvPr>
          <p:cNvSpPr>
            <a:spLocks noGrp="1"/>
          </p:cNvSpPr>
          <p:nvPr>
            <p:ph type="sldNum" sz="quarter" idx="12"/>
          </p:nvPr>
        </p:nvSpPr>
        <p:spPr/>
        <p:txBody>
          <a:bodyPr/>
          <a:lstStyle/>
          <a:p>
            <a:fld id="{08E8A4CE-B313-45AA-A7F2-FC9E1099E5D6}" type="slidenum">
              <a:rPr lang="en-IN" smtClean="0"/>
              <a:t>‹#›</a:t>
            </a:fld>
            <a:endParaRPr lang="en-IN"/>
          </a:p>
        </p:txBody>
      </p:sp>
    </p:spTree>
    <p:extLst>
      <p:ext uri="{BB962C8B-B14F-4D97-AF65-F5344CB8AC3E}">
        <p14:creationId xmlns:p14="http://schemas.microsoft.com/office/powerpoint/2010/main" val="2717922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3579A-4B36-41C4-9C9A-F7F2FCA42E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F24834-FCD1-4FE6-9A83-CCF35F195E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4911232-3561-4863-A6BC-2064747AF8D6}"/>
              </a:ext>
            </a:extLst>
          </p:cNvPr>
          <p:cNvSpPr>
            <a:spLocks noGrp="1"/>
          </p:cNvSpPr>
          <p:nvPr>
            <p:ph type="dt" sz="half" idx="10"/>
          </p:nvPr>
        </p:nvSpPr>
        <p:spPr/>
        <p:txBody>
          <a:bodyPr/>
          <a:lstStyle/>
          <a:p>
            <a:fld id="{C5D921BE-59DD-4538-87FD-A5773314CE30}" type="datetimeFigureOut">
              <a:rPr lang="en-IN" smtClean="0"/>
              <a:t>23-08-2026</a:t>
            </a:fld>
            <a:endParaRPr lang="en-IN"/>
          </a:p>
        </p:txBody>
      </p:sp>
      <p:sp>
        <p:nvSpPr>
          <p:cNvPr id="5" name="Footer Placeholder 4">
            <a:extLst>
              <a:ext uri="{FF2B5EF4-FFF2-40B4-BE49-F238E27FC236}">
                <a16:creationId xmlns:a16="http://schemas.microsoft.com/office/drawing/2014/main" id="{BAE293A6-BE23-4588-BFF1-BC500A793C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114087-C8A8-43B4-88B3-0475194FFFD2}"/>
              </a:ext>
            </a:extLst>
          </p:cNvPr>
          <p:cNvSpPr>
            <a:spLocks noGrp="1"/>
          </p:cNvSpPr>
          <p:nvPr>
            <p:ph type="sldNum" sz="quarter" idx="12"/>
          </p:nvPr>
        </p:nvSpPr>
        <p:spPr/>
        <p:txBody>
          <a:bodyPr/>
          <a:lstStyle/>
          <a:p>
            <a:fld id="{08E8A4CE-B313-45AA-A7F2-FC9E1099E5D6}" type="slidenum">
              <a:rPr lang="en-IN" smtClean="0"/>
              <a:t>‹#›</a:t>
            </a:fld>
            <a:endParaRPr lang="en-IN"/>
          </a:p>
        </p:txBody>
      </p:sp>
    </p:spTree>
    <p:extLst>
      <p:ext uri="{BB962C8B-B14F-4D97-AF65-F5344CB8AC3E}">
        <p14:creationId xmlns:p14="http://schemas.microsoft.com/office/powerpoint/2010/main" val="4274546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2D24D-512C-499A-9FC4-43678C0B9F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97607A-DE47-4C8C-BF3E-5F28665A4EC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2129D1-7C04-461B-BA16-A7C6FE6CAC1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A979D0A-4A20-492F-960B-9565E9006889}"/>
              </a:ext>
            </a:extLst>
          </p:cNvPr>
          <p:cNvSpPr>
            <a:spLocks noGrp="1"/>
          </p:cNvSpPr>
          <p:nvPr>
            <p:ph type="dt" sz="half" idx="10"/>
          </p:nvPr>
        </p:nvSpPr>
        <p:spPr/>
        <p:txBody>
          <a:bodyPr/>
          <a:lstStyle/>
          <a:p>
            <a:fld id="{C5D921BE-59DD-4538-87FD-A5773314CE30}" type="datetimeFigureOut">
              <a:rPr lang="en-IN" smtClean="0"/>
              <a:t>23-08-2026</a:t>
            </a:fld>
            <a:endParaRPr lang="en-IN"/>
          </a:p>
        </p:txBody>
      </p:sp>
      <p:sp>
        <p:nvSpPr>
          <p:cNvPr id="6" name="Footer Placeholder 5">
            <a:extLst>
              <a:ext uri="{FF2B5EF4-FFF2-40B4-BE49-F238E27FC236}">
                <a16:creationId xmlns:a16="http://schemas.microsoft.com/office/drawing/2014/main" id="{2A6CBDD6-6B03-42CC-8942-7F82F4D19C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DA373E-6778-4BA8-901B-915D1994F8A2}"/>
              </a:ext>
            </a:extLst>
          </p:cNvPr>
          <p:cNvSpPr>
            <a:spLocks noGrp="1"/>
          </p:cNvSpPr>
          <p:nvPr>
            <p:ph type="sldNum" sz="quarter" idx="12"/>
          </p:nvPr>
        </p:nvSpPr>
        <p:spPr/>
        <p:txBody>
          <a:bodyPr/>
          <a:lstStyle/>
          <a:p>
            <a:fld id="{08E8A4CE-B313-45AA-A7F2-FC9E1099E5D6}" type="slidenum">
              <a:rPr lang="en-IN" smtClean="0"/>
              <a:t>‹#›</a:t>
            </a:fld>
            <a:endParaRPr lang="en-IN"/>
          </a:p>
        </p:txBody>
      </p:sp>
    </p:spTree>
    <p:extLst>
      <p:ext uri="{BB962C8B-B14F-4D97-AF65-F5344CB8AC3E}">
        <p14:creationId xmlns:p14="http://schemas.microsoft.com/office/powerpoint/2010/main" val="1559148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140BE-15D4-464D-AAC4-7FDC6FAA90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85B594-6C3D-43BA-9E08-0B78A8674D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5A3C0A2-C9B8-4FC3-A27F-0ECFC9481D2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7295A4D-D307-46DA-AC43-2C5DE9BBF4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225927C-C9EC-4ED0-946C-C2F3C49EF68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162C6D6-0150-485C-89F3-4513B9FC5FB4}"/>
              </a:ext>
            </a:extLst>
          </p:cNvPr>
          <p:cNvSpPr>
            <a:spLocks noGrp="1"/>
          </p:cNvSpPr>
          <p:nvPr>
            <p:ph type="dt" sz="half" idx="10"/>
          </p:nvPr>
        </p:nvSpPr>
        <p:spPr/>
        <p:txBody>
          <a:bodyPr/>
          <a:lstStyle/>
          <a:p>
            <a:fld id="{C5D921BE-59DD-4538-87FD-A5773314CE30}" type="datetimeFigureOut">
              <a:rPr lang="en-IN" smtClean="0"/>
              <a:t>23-08-2026</a:t>
            </a:fld>
            <a:endParaRPr lang="en-IN"/>
          </a:p>
        </p:txBody>
      </p:sp>
      <p:sp>
        <p:nvSpPr>
          <p:cNvPr id="8" name="Footer Placeholder 7">
            <a:extLst>
              <a:ext uri="{FF2B5EF4-FFF2-40B4-BE49-F238E27FC236}">
                <a16:creationId xmlns:a16="http://schemas.microsoft.com/office/drawing/2014/main" id="{75568E12-237C-4E84-AECB-DD504185A68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3A56EF-40B1-4370-99AD-ACE1277ED6C1}"/>
              </a:ext>
            </a:extLst>
          </p:cNvPr>
          <p:cNvSpPr>
            <a:spLocks noGrp="1"/>
          </p:cNvSpPr>
          <p:nvPr>
            <p:ph type="sldNum" sz="quarter" idx="12"/>
          </p:nvPr>
        </p:nvSpPr>
        <p:spPr/>
        <p:txBody>
          <a:bodyPr/>
          <a:lstStyle/>
          <a:p>
            <a:fld id="{08E8A4CE-B313-45AA-A7F2-FC9E1099E5D6}" type="slidenum">
              <a:rPr lang="en-IN" smtClean="0"/>
              <a:t>‹#›</a:t>
            </a:fld>
            <a:endParaRPr lang="en-IN"/>
          </a:p>
        </p:txBody>
      </p:sp>
    </p:spTree>
    <p:extLst>
      <p:ext uri="{BB962C8B-B14F-4D97-AF65-F5344CB8AC3E}">
        <p14:creationId xmlns:p14="http://schemas.microsoft.com/office/powerpoint/2010/main" val="123225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A1D7A-B9EC-4C15-A476-A724BCA955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FC04D68-805D-4DA4-BC4A-C3D5C6E8FD99}"/>
              </a:ext>
            </a:extLst>
          </p:cNvPr>
          <p:cNvSpPr>
            <a:spLocks noGrp="1"/>
          </p:cNvSpPr>
          <p:nvPr>
            <p:ph type="dt" sz="half" idx="10"/>
          </p:nvPr>
        </p:nvSpPr>
        <p:spPr/>
        <p:txBody>
          <a:bodyPr/>
          <a:lstStyle/>
          <a:p>
            <a:fld id="{C5D921BE-59DD-4538-87FD-A5773314CE30}" type="datetimeFigureOut">
              <a:rPr lang="en-IN" smtClean="0"/>
              <a:t>23-08-2026</a:t>
            </a:fld>
            <a:endParaRPr lang="en-IN"/>
          </a:p>
        </p:txBody>
      </p:sp>
      <p:sp>
        <p:nvSpPr>
          <p:cNvPr id="4" name="Footer Placeholder 3">
            <a:extLst>
              <a:ext uri="{FF2B5EF4-FFF2-40B4-BE49-F238E27FC236}">
                <a16:creationId xmlns:a16="http://schemas.microsoft.com/office/drawing/2014/main" id="{43417ADF-1602-4FAC-8249-59D2CDC5B4C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69D149-D870-4AC0-A57C-00138978FE8B}"/>
              </a:ext>
            </a:extLst>
          </p:cNvPr>
          <p:cNvSpPr>
            <a:spLocks noGrp="1"/>
          </p:cNvSpPr>
          <p:nvPr>
            <p:ph type="sldNum" sz="quarter" idx="12"/>
          </p:nvPr>
        </p:nvSpPr>
        <p:spPr/>
        <p:txBody>
          <a:bodyPr/>
          <a:lstStyle/>
          <a:p>
            <a:fld id="{08E8A4CE-B313-45AA-A7F2-FC9E1099E5D6}" type="slidenum">
              <a:rPr lang="en-IN" smtClean="0"/>
              <a:t>‹#›</a:t>
            </a:fld>
            <a:endParaRPr lang="en-IN"/>
          </a:p>
        </p:txBody>
      </p:sp>
    </p:spTree>
    <p:extLst>
      <p:ext uri="{BB962C8B-B14F-4D97-AF65-F5344CB8AC3E}">
        <p14:creationId xmlns:p14="http://schemas.microsoft.com/office/powerpoint/2010/main" val="1547433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7EE63A-197F-4902-875F-E0297879DAF4}"/>
              </a:ext>
            </a:extLst>
          </p:cNvPr>
          <p:cNvSpPr>
            <a:spLocks noGrp="1"/>
          </p:cNvSpPr>
          <p:nvPr>
            <p:ph type="dt" sz="half" idx="10"/>
          </p:nvPr>
        </p:nvSpPr>
        <p:spPr/>
        <p:txBody>
          <a:bodyPr/>
          <a:lstStyle/>
          <a:p>
            <a:fld id="{C5D921BE-59DD-4538-87FD-A5773314CE30}" type="datetimeFigureOut">
              <a:rPr lang="en-IN" smtClean="0"/>
              <a:t>23-08-2026</a:t>
            </a:fld>
            <a:endParaRPr lang="en-IN"/>
          </a:p>
        </p:txBody>
      </p:sp>
      <p:sp>
        <p:nvSpPr>
          <p:cNvPr id="3" name="Footer Placeholder 2">
            <a:extLst>
              <a:ext uri="{FF2B5EF4-FFF2-40B4-BE49-F238E27FC236}">
                <a16:creationId xmlns:a16="http://schemas.microsoft.com/office/drawing/2014/main" id="{5E2DC858-C452-4ABB-8577-FAB13F81912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852961C-B498-4BB4-B1E3-24EC5EF13EB1}"/>
              </a:ext>
            </a:extLst>
          </p:cNvPr>
          <p:cNvSpPr>
            <a:spLocks noGrp="1"/>
          </p:cNvSpPr>
          <p:nvPr>
            <p:ph type="sldNum" sz="quarter" idx="12"/>
          </p:nvPr>
        </p:nvSpPr>
        <p:spPr/>
        <p:txBody>
          <a:bodyPr/>
          <a:lstStyle/>
          <a:p>
            <a:fld id="{08E8A4CE-B313-45AA-A7F2-FC9E1099E5D6}" type="slidenum">
              <a:rPr lang="en-IN" smtClean="0"/>
              <a:t>‹#›</a:t>
            </a:fld>
            <a:endParaRPr lang="en-IN"/>
          </a:p>
        </p:txBody>
      </p:sp>
    </p:spTree>
    <p:extLst>
      <p:ext uri="{BB962C8B-B14F-4D97-AF65-F5344CB8AC3E}">
        <p14:creationId xmlns:p14="http://schemas.microsoft.com/office/powerpoint/2010/main" val="1058363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DF3B4-EB02-493E-8B94-A9EC49AFC3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F5E1A4-89D1-4FE3-8653-46C1A2E328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60527AC-0CE8-4A19-A7CA-91E4560B68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4A87EAB-C4CD-4101-92CF-752D7593B2E5}"/>
              </a:ext>
            </a:extLst>
          </p:cNvPr>
          <p:cNvSpPr>
            <a:spLocks noGrp="1"/>
          </p:cNvSpPr>
          <p:nvPr>
            <p:ph type="dt" sz="half" idx="10"/>
          </p:nvPr>
        </p:nvSpPr>
        <p:spPr/>
        <p:txBody>
          <a:bodyPr/>
          <a:lstStyle/>
          <a:p>
            <a:fld id="{C5D921BE-59DD-4538-87FD-A5773314CE30}" type="datetimeFigureOut">
              <a:rPr lang="en-IN" smtClean="0"/>
              <a:t>23-08-2026</a:t>
            </a:fld>
            <a:endParaRPr lang="en-IN"/>
          </a:p>
        </p:txBody>
      </p:sp>
      <p:sp>
        <p:nvSpPr>
          <p:cNvPr id="6" name="Footer Placeholder 5">
            <a:extLst>
              <a:ext uri="{FF2B5EF4-FFF2-40B4-BE49-F238E27FC236}">
                <a16:creationId xmlns:a16="http://schemas.microsoft.com/office/drawing/2014/main" id="{257C5FB6-3D5A-4FB4-A254-749125506B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633886-077E-4958-9971-0F7A27B76DA5}"/>
              </a:ext>
            </a:extLst>
          </p:cNvPr>
          <p:cNvSpPr>
            <a:spLocks noGrp="1"/>
          </p:cNvSpPr>
          <p:nvPr>
            <p:ph type="sldNum" sz="quarter" idx="12"/>
          </p:nvPr>
        </p:nvSpPr>
        <p:spPr/>
        <p:txBody>
          <a:bodyPr/>
          <a:lstStyle/>
          <a:p>
            <a:fld id="{08E8A4CE-B313-45AA-A7F2-FC9E1099E5D6}" type="slidenum">
              <a:rPr lang="en-IN" smtClean="0"/>
              <a:t>‹#›</a:t>
            </a:fld>
            <a:endParaRPr lang="en-IN"/>
          </a:p>
        </p:txBody>
      </p:sp>
    </p:spTree>
    <p:extLst>
      <p:ext uri="{BB962C8B-B14F-4D97-AF65-F5344CB8AC3E}">
        <p14:creationId xmlns:p14="http://schemas.microsoft.com/office/powerpoint/2010/main" val="316269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C6507-1C02-4EA2-A47A-B5DEA73BAA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7D1FA07-587C-4DB8-945D-CBE9C78489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CF9615-6722-41D4-8985-0DEA9E61C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2793289-C893-4A82-BBAF-B2BFE2481D7F}"/>
              </a:ext>
            </a:extLst>
          </p:cNvPr>
          <p:cNvSpPr>
            <a:spLocks noGrp="1"/>
          </p:cNvSpPr>
          <p:nvPr>
            <p:ph type="dt" sz="half" idx="10"/>
          </p:nvPr>
        </p:nvSpPr>
        <p:spPr/>
        <p:txBody>
          <a:bodyPr/>
          <a:lstStyle/>
          <a:p>
            <a:fld id="{C5D921BE-59DD-4538-87FD-A5773314CE30}" type="datetimeFigureOut">
              <a:rPr lang="en-IN" smtClean="0"/>
              <a:t>23-08-2026</a:t>
            </a:fld>
            <a:endParaRPr lang="en-IN"/>
          </a:p>
        </p:txBody>
      </p:sp>
      <p:sp>
        <p:nvSpPr>
          <p:cNvPr id="6" name="Footer Placeholder 5">
            <a:extLst>
              <a:ext uri="{FF2B5EF4-FFF2-40B4-BE49-F238E27FC236}">
                <a16:creationId xmlns:a16="http://schemas.microsoft.com/office/drawing/2014/main" id="{65AFAFCE-C61C-456B-91F3-796E9964B2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9F645D-206D-4662-8F69-8DF44D61E927}"/>
              </a:ext>
            </a:extLst>
          </p:cNvPr>
          <p:cNvSpPr>
            <a:spLocks noGrp="1"/>
          </p:cNvSpPr>
          <p:nvPr>
            <p:ph type="sldNum" sz="quarter" idx="12"/>
          </p:nvPr>
        </p:nvSpPr>
        <p:spPr/>
        <p:txBody>
          <a:bodyPr/>
          <a:lstStyle/>
          <a:p>
            <a:fld id="{08E8A4CE-B313-45AA-A7F2-FC9E1099E5D6}" type="slidenum">
              <a:rPr lang="en-IN" smtClean="0"/>
              <a:t>‹#›</a:t>
            </a:fld>
            <a:endParaRPr lang="en-IN"/>
          </a:p>
        </p:txBody>
      </p:sp>
    </p:spTree>
    <p:extLst>
      <p:ext uri="{BB962C8B-B14F-4D97-AF65-F5344CB8AC3E}">
        <p14:creationId xmlns:p14="http://schemas.microsoft.com/office/powerpoint/2010/main" val="3623052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F4BB8-AF61-45D7-83B6-0F2BF0289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B869B5-0C10-4414-869A-F15BCB8EACF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E9C07A-01A9-4EF5-88F9-BDAB055E804D}"/>
              </a:ext>
            </a:extLst>
          </p:cNvPr>
          <p:cNvSpPr>
            <a:spLocks noGrp="1"/>
          </p:cNvSpPr>
          <p:nvPr>
            <p:ph type="dt" sz="half" idx="10"/>
          </p:nvPr>
        </p:nvSpPr>
        <p:spPr/>
        <p:txBody>
          <a:bodyPr/>
          <a:lstStyle/>
          <a:p>
            <a:fld id="{C5D921BE-59DD-4538-87FD-A5773314CE30}" type="datetimeFigureOut">
              <a:rPr lang="en-IN" smtClean="0"/>
              <a:t>23-08-2026</a:t>
            </a:fld>
            <a:endParaRPr lang="en-IN"/>
          </a:p>
        </p:txBody>
      </p:sp>
      <p:sp>
        <p:nvSpPr>
          <p:cNvPr id="5" name="Footer Placeholder 4">
            <a:extLst>
              <a:ext uri="{FF2B5EF4-FFF2-40B4-BE49-F238E27FC236}">
                <a16:creationId xmlns:a16="http://schemas.microsoft.com/office/drawing/2014/main" id="{1BA985DA-B1BF-4BFC-859A-0EF301414B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2EC9F1-4A61-449C-9C4A-8D8CF9173F2F}"/>
              </a:ext>
            </a:extLst>
          </p:cNvPr>
          <p:cNvSpPr>
            <a:spLocks noGrp="1"/>
          </p:cNvSpPr>
          <p:nvPr>
            <p:ph type="sldNum" sz="quarter" idx="12"/>
          </p:nvPr>
        </p:nvSpPr>
        <p:spPr/>
        <p:txBody>
          <a:bodyPr/>
          <a:lstStyle/>
          <a:p>
            <a:fld id="{08E8A4CE-B313-45AA-A7F2-FC9E1099E5D6}" type="slidenum">
              <a:rPr lang="en-IN" smtClean="0"/>
              <a:t>‹#›</a:t>
            </a:fld>
            <a:endParaRPr lang="en-IN"/>
          </a:p>
        </p:txBody>
      </p:sp>
    </p:spTree>
    <p:extLst>
      <p:ext uri="{BB962C8B-B14F-4D97-AF65-F5344CB8AC3E}">
        <p14:creationId xmlns:p14="http://schemas.microsoft.com/office/powerpoint/2010/main" val="3548264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7A9659-E514-459B-9F28-2EC3AF1563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7339A0-DECD-4AB1-8997-B6D80A9C22E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DDAAD8-D448-41F0-8E6B-07399A68A627}"/>
              </a:ext>
            </a:extLst>
          </p:cNvPr>
          <p:cNvSpPr>
            <a:spLocks noGrp="1"/>
          </p:cNvSpPr>
          <p:nvPr>
            <p:ph type="dt" sz="half" idx="10"/>
          </p:nvPr>
        </p:nvSpPr>
        <p:spPr/>
        <p:txBody>
          <a:bodyPr/>
          <a:lstStyle/>
          <a:p>
            <a:fld id="{C5D921BE-59DD-4538-87FD-A5773314CE30}" type="datetimeFigureOut">
              <a:rPr lang="en-IN" smtClean="0"/>
              <a:t>23-08-2026</a:t>
            </a:fld>
            <a:endParaRPr lang="en-IN"/>
          </a:p>
        </p:txBody>
      </p:sp>
      <p:sp>
        <p:nvSpPr>
          <p:cNvPr id="5" name="Footer Placeholder 4">
            <a:extLst>
              <a:ext uri="{FF2B5EF4-FFF2-40B4-BE49-F238E27FC236}">
                <a16:creationId xmlns:a16="http://schemas.microsoft.com/office/drawing/2014/main" id="{F6D34F0A-C2F7-4429-B460-DA6ECC8837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578DAE-B98D-464D-81B5-B966A0CF19E2}"/>
              </a:ext>
            </a:extLst>
          </p:cNvPr>
          <p:cNvSpPr>
            <a:spLocks noGrp="1"/>
          </p:cNvSpPr>
          <p:nvPr>
            <p:ph type="sldNum" sz="quarter" idx="12"/>
          </p:nvPr>
        </p:nvSpPr>
        <p:spPr/>
        <p:txBody>
          <a:bodyPr/>
          <a:lstStyle/>
          <a:p>
            <a:fld id="{08E8A4CE-B313-45AA-A7F2-FC9E1099E5D6}" type="slidenum">
              <a:rPr lang="en-IN" smtClean="0"/>
              <a:t>‹#›</a:t>
            </a:fld>
            <a:endParaRPr lang="en-IN"/>
          </a:p>
        </p:txBody>
      </p:sp>
    </p:spTree>
    <p:extLst>
      <p:ext uri="{BB962C8B-B14F-4D97-AF65-F5344CB8AC3E}">
        <p14:creationId xmlns:p14="http://schemas.microsoft.com/office/powerpoint/2010/main" val="3903991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CD0BF5-35D8-4177-9DC9-2A0903D573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64EC0B-DE0F-4B30-9C14-57B8E0EF5A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24135B-FDAB-40DF-A4A9-A924216DFB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D921BE-59DD-4538-87FD-A5773314CE30}" type="datetimeFigureOut">
              <a:rPr lang="en-IN" smtClean="0"/>
              <a:t>23-08-2026</a:t>
            </a:fld>
            <a:endParaRPr lang="en-IN"/>
          </a:p>
        </p:txBody>
      </p:sp>
      <p:sp>
        <p:nvSpPr>
          <p:cNvPr id="5" name="Footer Placeholder 4">
            <a:extLst>
              <a:ext uri="{FF2B5EF4-FFF2-40B4-BE49-F238E27FC236}">
                <a16:creationId xmlns:a16="http://schemas.microsoft.com/office/drawing/2014/main" id="{45D9B11A-D491-44AB-939A-846B97F33A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FE9BCF4-6E1E-4D29-93C5-BE1F6F7769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E8A4CE-B313-45AA-A7F2-FC9E1099E5D6}" type="slidenum">
              <a:rPr lang="en-IN" smtClean="0"/>
              <a:t>‹#›</a:t>
            </a:fld>
            <a:endParaRPr lang="en-IN"/>
          </a:p>
        </p:txBody>
      </p:sp>
    </p:spTree>
    <p:extLst>
      <p:ext uri="{BB962C8B-B14F-4D97-AF65-F5344CB8AC3E}">
        <p14:creationId xmlns:p14="http://schemas.microsoft.com/office/powerpoint/2010/main" val="925616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F07A59-5B26-4471-BC38-8FFB83559616}"/>
              </a:ext>
            </a:extLst>
          </p:cNvPr>
          <p:cNvSpPr>
            <a:spLocks noGrp="1"/>
          </p:cNvSpPr>
          <p:nvPr>
            <p:ph idx="1"/>
          </p:nvPr>
        </p:nvSpPr>
        <p:spPr>
          <a:xfrm>
            <a:off x="149247" y="1013459"/>
            <a:ext cx="11834648" cy="5667377"/>
          </a:xfrm>
        </p:spPr>
        <p:txBody>
          <a:bodyPr>
            <a:noAutofit/>
          </a:bodyPr>
          <a:lstStyle/>
          <a:p>
            <a:pPr algn="just"/>
            <a:r>
              <a:rPr lang="en-US" sz="2600" dirty="0">
                <a:latin typeface="Times New Roman" panose="02020603050405020304" pitchFamily="18" charset="0"/>
                <a:ea typeface="Verdana" panose="020B0604030504040204" pitchFamily="34" charset="0"/>
                <a:cs typeface="Times New Roman" panose="02020603050405020304" pitchFamily="18" charset="0"/>
              </a:rPr>
              <a:t>Linear Regression technique is used to predict numerical values. </a:t>
            </a:r>
          </a:p>
          <a:p>
            <a:pPr marL="0" indent="0" algn="just">
              <a:buNone/>
            </a:pPr>
            <a:r>
              <a:rPr lang="en-US" sz="2600" dirty="0">
                <a:latin typeface="Times New Roman" panose="02020603050405020304" pitchFamily="18" charset="0"/>
                <a:ea typeface="Verdana" panose="020B0604030504040204" pitchFamily="34" charset="0"/>
                <a:cs typeface="Times New Roman" panose="02020603050405020304" pitchFamily="18" charset="0"/>
              </a:rPr>
              <a:t>   Example: The next day’s closing price of a stock.</a:t>
            </a:r>
          </a:p>
          <a:p>
            <a:pPr algn="just"/>
            <a:endParaRPr lang="en-US" sz="2600" dirty="0">
              <a:latin typeface="Times New Roman" panose="02020603050405020304" pitchFamily="18" charset="0"/>
              <a:ea typeface="Verdana" panose="020B0604030504040204" pitchFamily="34" charset="0"/>
              <a:cs typeface="Times New Roman" panose="02020603050405020304" pitchFamily="18" charset="0"/>
            </a:endParaRPr>
          </a:p>
          <a:p>
            <a:pPr algn="just"/>
            <a:r>
              <a:rPr lang="en-US" sz="2600" dirty="0">
                <a:latin typeface="Times New Roman" panose="02020603050405020304" pitchFamily="18" charset="0"/>
                <a:ea typeface="Verdana" panose="020B0604030504040204" pitchFamily="34" charset="0"/>
                <a:cs typeface="Times New Roman" panose="02020603050405020304" pitchFamily="18" charset="0"/>
              </a:rPr>
              <a:t>Logistic Regression provides a 0 or 1 prediction, rather than a real value for a continuous variable. To that extent, it is a classification technique and not a regression problem.</a:t>
            </a:r>
          </a:p>
          <a:p>
            <a:pPr algn="just"/>
            <a:endParaRPr lang="en-US" sz="2600" dirty="0">
              <a:latin typeface="Times New Roman" panose="02020603050405020304" pitchFamily="18" charset="0"/>
              <a:ea typeface="Verdana" panose="020B0604030504040204" pitchFamily="34"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If the answer desired is of Boolean form, 0/1 or yes/no, then use Logistic Regression.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Similarly, if you want to determine if the given picture is a human or not, you need a yes/no answer.</a:t>
            </a:r>
            <a:endParaRPr lang="en-US" sz="2600" dirty="0">
              <a:latin typeface="Times New Roman" panose="02020603050405020304" pitchFamily="18" charset="0"/>
              <a:ea typeface="Verdana" panose="020B0604030504040204" pitchFamily="34" charset="0"/>
              <a:cs typeface="Times New Roman" panose="02020603050405020304" pitchFamily="18" charset="0"/>
            </a:endParaRPr>
          </a:p>
          <a:p>
            <a:pPr algn="just"/>
            <a:endParaRPr lang="en-US" sz="26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D004500-2ADE-4E69-A1E9-1543118B9AE2}"/>
              </a:ext>
            </a:extLst>
          </p:cNvPr>
          <p:cNvSpPr>
            <a:spLocks noGrp="1"/>
          </p:cNvSpPr>
          <p:nvPr>
            <p:ph type="sldNum" sz="quarter" idx="12"/>
          </p:nvPr>
        </p:nvSpPr>
        <p:spPr/>
        <p:txBody>
          <a:bodyPr/>
          <a:lstStyle/>
          <a:p>
            <a:fld id="{9780A1CE-6C3C-4CE8-9D96-B7A0620EDD62}" type="slidenum">
              <a:rPr lang="en-IN" sz="1600" smtClean="0"/>
              <a:t>1</a:t>
            </a:fld>
            <a:endParaRPr lang="en-IN" sz="1600" dirty="0"/>
          </a:p>
        </p:txBody>
      </p:sp>
      <p:sp>
        <p:nvSpPr>
          <p:cNvPr id="5" name="Rectangle 2">
            <a:extLst>
              <a:ext uri="{FF2B5EF4-FFF2-40B4-BE49-F238E27FC236}">
                <a16:creationId xmlns:a16="http://schemas.microsoft.com/office/drawing/2014/main" id="{8741F4D1-6FD3-4C55-89CD-78B8F447B3E6}"/>
              </a:ext>
            </a:extLst>
          </p:cNvPr>
          <p:cNvSpPr>
            <a:spLocks noGrp="1" noChangeArrowheads="1"/>
          </p:cNvSpPr>
          <p:nvPr>
            <p:ph type="title"/>
          </p:nvPr>
        </p:nvSpPr>
        <p:spPr>
          <a:xfrm>
            <a:off x="159407" y="187323"/>
            <a:ext cx="11834648" cy="701040"/>
          </a:xfrm>
          <a:noFill/>
        </p:spPr>
        <p:txBody>
          <a:bodyPr>
            <a:normAutofit/>
          </a:bodyPr>
          <a:lstStyle/>
          <a:p>
            <a:r>
              <a:rPr lang="en-US" altLang="en-US" sz="2800" b="1" dirty="0">
                <a:solidFill>
                  <a:srgbClr val="660066"/>
                </a:solidFill>
                <a:latin typeface="Tahoma" panose="020B0604030504040204" pitchFamily="34" charset="0"/>
              </a:rPr>
              <a:t>3.5 Logistic Regression </a:t>
            </a:r>
            <a:r>
              <a:rPr lang="en-US" altLang="en-US" sz="1800" b="1" dirty="0">
                <a:solidFill>
                  <a:srgbClr val="660066"/>
                </a:solidFill>
                <a:latin typeface="Tahoma" panose="020B0604030504040204" pitchFamily="34" charset="0"/>
              </a:rPr>
              <a:t>(Textbook 2)</a:t>
            </a:r>
            <a:r>
              <a:rPr lang="en-US" altLang="en-US" sz="2800" b="1" dirty="0">
                <a:solidFill>
                  <a:srgbClr val="660066"/>
                </a:solidFill>
                <a:latin typeface="Tahoma" panose="020B0604030504040204" pitchFamily="34" charset="0"/>
              </a:rPr>
              <a:t> </a:t>
            </a:r>
            <a:endParaRPr lang="en-US" altLang="en-US" sz="2800" b="1" dirty="0">
              <a:solidFill>
                <a:srgbClr val="660066"/>
              </a:solidFill>
              <a:effectLst>
                <a:outerShdw blurRad="38100" dist="38100" dir="2700000" algn="tl">
                  <a:srgbClr val="000000"/>
                </a:outerShdw>
              </a:effectLst>
              <a:latin typeface="Tahoma" panose="020B0604030504040204" pitchFamily="34" charset="0"/>
            </a:endParaRPr>
          </a:p>
        </p:txBody>
      </p:sp>
      <p:cxnSp>
        <p:nvCxnSpPr>
          <p:cNvPr id="6" name="Straight Connector 5">
            <a:extLst>
              <a:ext uri="{FF2B5EF4-FFF2-40B4-BE49-F238E27FC236}">
                <a16:creationId xmlns:a16="http://schemas.microsoft.com/office/drawing/2014/main" id="{02A3EFBA-C2F6-4E5F-8CF5-600F7866FB92}"/>
              </a:ext>
            </a:extLst>
          </p:cNvPr>
          <p:cNvCxnSpPr>
            <a:cxnSpLocks/>
          </p:cNvCxnSpPr>
          <p:nvPr/>
        </p:nvCxnSpPr>
        <p:spPr>
          <a:xfrm>
            <a:off x="243840" y="833120"/>
            <a:ext cx="11257280" cy="0"/>
          </a:xfrm>
          <a:prstGeom prst="line">
            <a:avLst/>
          </a:prstGeom>
          <a:ln w="254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87516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004500-2ADE-4E69-A1E9-1543118B9AE2}"/>
              </a:ext>
            </a:extLst>
          </p:cNvPr>
          <p:cNvSpPr>
            <a:spLocks noGrp="1"/>
          </p:cNvSpPr>
          <p:nvPr>
            <p:ph type="sldNum" sz="quarter" idx="12"/>
          </p:nvPr>
        </p:nvSpPr>
        <p:spPr/>
        <p:txBody>
          <a:bodyPr/>
          <a:lstStyle/>
          <a:p>
            <a:fld id="{9780A1CE-6C3C-4CE8-9D96-B7A0620EDD62}" type="slidenum">
              <a:rPr lang="en-IN" sz="1600" smtClean="0"/>
              <a:t>2</a:t>
            </a:fld>
            <a:endParaRPr lang="en-IN" sz="1600" dirty="0"/>
          </a:p>
        </p:txBody>
      </p:sp>
      <p:sp>
        <p:nvSpPr>
          <p:cNvPr id="2" name="Rectangle 1">
            <a:extLst>
              <a:ext uri="{FF2B5EF4-FFF2-40B4-BE49-F238E27FC236}">
                <a16:creationId xmlns:a16="http://schemas.microsoft.com/office/drawing/2014/main" id="{6A5C45BC-62F6-4CC5-AB60-FAA868DB8F89}"/>
              </a:ext>
            </a:extLst>
          </p:cNvPr>
          <p:cNvSpPr/>
          <p:nvPr/>
        </p:nvSpPr>
        <p:spPr>
          <a:xfrm>
            <a:off x="149247" y="95882"/>
            <a:ext cx="11834648" cy="5847755"/>
          </a:xfrm>
          <a:prstGeom prst="rect">
            <a:avLst/>
          </a:prstGeom>
        </p:spPr>
        <p:txBody>
          <a:bodyPr wrap="square">
            <a:spAutoFit/>
          </a:bodyPr>
          <a:lstStyle/>
          <a:p>
            <a:r>
              <a:rPr lang="en-US" sz="2200" b="1" dirty="0">
                <a:solidFill>
                  <a:srgbClr val="000000"/>
                </a:solidFill>
                <a:latin typeface="Times New Roman" panose="02020603050405020304" pitchFamily="18" charset="0"/>
              </a:rPr>
              <a:t>SUMMARY</a:t>
            </a:r>
          </a:p>
          <a:p>
            <a:endParaRPr lang="en-US" sz="2200" b="1" dirty="0">
              <a:solidFill>
                <a:srgbClr val="000000"/>
              </a:solidFill>
              <a:latin typeface="Times New Roman" panose="02020603050405020304" pitchFamily="18" charset="0"/>
            </a:endParaRPr>
          </a:p>
          <a:p>
            <a:r>
              <a:rPr lang="en-US" sz="2200" dirty="0">
                <a:solidFill>
                  <a:srgbClr val="000000"/>
                </a:solidFill>
                <a:latin typeface="Times New Roman" panose="02020603050405020304" pitchFamily="18" charset="0"/>
              </a:rPr>
              <a:t>Logistic regression is a supervised machine learning algorithm mainly used for classification tasks where the goal is to predict the probability that an instance of belonging to a given class or not. </a:t>
            </a:r>
          </a:p>
          <a:p>
            <a:endParaRPr lang="en-US" sz="2200" dirty="0">
              <a:solidFill>
                <a:srgbClr val="000000"/>
              </a:solidFill>
              <a:latin typeface="Times New Roman" panose="02020603050405020304" pitchFamily="18" charset="0"/>
            </a:endParaRPr>
          </a:p>
          <a:p>
            <a:r>
              <a:rPr lang="en-US" sz="2200" dirty="0">
                <a:solidFill>
                  <a:srgbClr val="000000"/>
                </a:solidFill>
                <a:latin typeface="Times New Roman" panose="02020603050405020304" pitchFamily="18" charset="0"/>
              </a:rPr>
              <a:t>It is a </a:t>
            </a:r>
            <a:r>
              <a:rPr lang="en-US" sz="2200" b="1" dirty="0">
                <a:solidFill>
                  <a:srgbClr val="000000"/>
                </a:solidFill>
                <a:latin typeface="Times New Roman" panose="02020603050405020304" pitchFamily="18" charset="0"/>
              </a:rPr>
              <a:t>kind of statistical algorithm</a:t>
            </a:r>
            <a:r>
              <a:rPr lang="en-US" sz="2200" dirty="0">
                <a:solidFill>
                  <a:srgbClr val="000000"/>
                </a:solidFill>
                <a:latin typeface="Times New Roman" panose="02020603050405020304" pitchFamily="18" charset="0"/>
              </a:rPr>
              <a:t>, which analyze the relationship between a set of independent variables and the dependent binary variables. </a:t>
            </a:r>
          </a:p>
          <a:p>
            <a:endParaRPr lang="en-US" sz="2200" dirty="0">
              <a:solidFill>
                <a:srgbClr val="000000"/>
              </a:solidFill>
              <a:latin typeface="Times New Roman" panose="02020603050405020304" pitchFamily="18" charset="0"/>
            </a:endParaRPr>
          </a:p>
          <a:p>
            <a:r>
              <a:rPr lang="en-US" sz="2200" dirty="0">
                <a:solidFill>
                  <a:srgbClr val="000000"/>
                </a:solidFill>
                <a:latin typeface="Times New Roman" panose="02020603050405020304" pitchFamily="18" charset="0"/>
              </a:rPr>
              <a:t>It is a powerful tool for decision-making. For example email spam or not.</a:t>
            </a:r>
          </a:p>
          <a:p>
            <a:r>
              <a:rPr lang="en-US" sz="2200" dirty="0">
                <a:solidFill>
                  <a:srgbClr val="000000"/>
                </a:solidFill>
                <a:latin typeface="Times New Roman" panose="02020603050405020304" pitchFamily="18" charset="0"/>
              </a:rPr>
              <a:t> </a:t>
            </a:r>
          </a:p>
          <a:p>
            <a:r>
              <a:rPr lang="en-US" sz="2200" dirty="0">
                <a:solidFill>
                  <a:srgbClr val="000000"/>
                </a:solidFill>
                <a:latin typeface="Times New Roman" panose="02020603050405020304" pitchFamily="18" charset="0"/>
              </a:rPr>
              <a:t>It is used for classification algorithms its name is logistic regression. </a:t>
            </a:r>
            <a:r>
              <a:rPr lang="en-US" sz="2200" b="1" dirty="0">
                <a:solidFill>
                  <a:srgbClr val="0000FF"/>
                </a:solidFill>
                <a:latin typeface="Times New Roman" panose="02020603050405020304" pitchFamily="18" charset="0"/>
              </a:rPr>
              <a:t>it’s referred to as regression because it takes the output of the linear regression function as input and uses a sigmoid function to estimate the probability for the given class. </a:t>
            </a:r>
          </a:p>
          <a:p>
            <a:endParaRPr lang="en-US" sz="2200" dirty="0">
              <a:solidFill>
                <a:srgbClr val="000000"/>
              </a:solidFill>
              <a:latin typeface="Times New Roman" panose="02020603050405020304" pitchFamily="18" charset="0"/>
            </a:endParaRPr>
          </a:p>
          <a:p>
            <a:r>
              <a:rPr lang="en-US" sz="2200" dirty="0">
                <a:solidFill>
                  <a:srgbClr val="000000"/>
                </a:solidFill>
                <a:latin typeface="Times New Roman" panose="02020603050405020304" pitchFamily="18" charset="0"/>
              </a:rPr>
              <a:t>The difference between linear regression and logistic regression is that linear regression output is the continuous value that can be anything while logistic regression predicts the probability that an instance belongs to a given class or not. </a:t>
            </a:r>
            <a:endParaRPr lang="en-IN" sz="2200" dirty="0"/>
          </a:p>
        </p:txBody>
      </p:sp>
    </p:spTree>
    <p:extLst>
      <p:ext uri="{BB962C8B-B14F-4D97-AF65-F5344CB8AC3E}">
        <p14:creationId xmlns:p14="http://schemas.microsoft.com/office/powerpoint/2010/main" val="562882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F07A59-5B26-4471-BC38-8FFB83559616}"/>
              </a:ext>
            </a:extLst>
          </p:cNvPr>
          <p:cNvSpPr>
            <a:spLocks noGrp="1"/>
          </p:cNvSpPr>
          <p:nvPr>
            <p:ph idx="1"/>
          </p:nvPr>
        </p:nvSpPr>
        <p:spPr>
          <a:xfrm>
            <a:off x="149247" y="136523"/>
            <a:ext cx="11834648" cy="6544313"/>
          </a:xfrm>
        </p:spPr>
        <p:txBody>
          <a:bodyPr>
            <a:noAutofit/>
          </a:bodyPr>
          <a:lstStyle/>
          <a:p>
            <a:pPr marL="0" indent="0" algn="just">
              <a:buNone/>
            </a:pPr>
            <a:r>
              <a:rPr lang="en-US" sz="2600" b="1" dirty="0">
                <a:latin typeface="Times New Roman" panose="02020603050405020304" pitchFamily="18" charset="0"/>
                <a:ea typeface="Verdana" panose="020B0604030504040204" pitchFamily="34" charset="0"/>
                <a:cs typeface="Times New Roman" panose="02020603050405020304" pitchFamily="18" charset="0"/>
              </a:rPr>
              <a:t>3.5.1 Sigmoid Function</a:t>
            </a:r>
          </a:p>
          <a:p>
            <a:pPr marL="0" indent="0" algn="just">
              <a:buNone/>
            </a:pPr>
            <a:r>
              <a:rPr lang="en-US" sz="2400" dirty="0"/>
              <a:t>Since interest is in predicting a Boolean answer, let us choose a function which operates within the range 0 to 1. Sigmoid is one such function that is extensively used for this purpose. Sigmoid function is defined as:</a:t>
            </a:r>
            <a:endParaRPr lang="en-US" sz="26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D004500-2ADE-4E69-A1E9-1543118B9AE2}"/>
              </a:ext>
            </a:extLst>
          </p:cNvPr>
          <p:cNvSpPr>
            <a:spLocks noGrp="1"/>
          </p:cNvSpPr>
          <p:nvPr>
            <p:ph type="sldNum" sz="quarter" idx="12"/>
          </p:nvPr>
        </p:nvSpPr>
        <p:spPr/>
        <p:txBody>
          <a:bodyPr/>
          <a:lstStyle/>
          <a:p>
            <a:fld id="{9780A1CE-6C3C-4CE8-9D96-B7A0620EDD62}" type="slidenum">
              <a:rPr lang="en-IN" sz="1600" smtClean="0"/>
              <a:t>3</a:t>
            </a:fld>
            <a:endParaRPr lang="en-IN" sz="1600" dirty="0"/>
          </a:p>
        </p:txBody>
      </p:sp>
      <p:pic>
        <p:nvPicPr>
          <p:cNvPr id="2" name="Picture 1">
            <a:extLst>
              <a:ext uri="{FF2B5EF4-FFF2-40B4-BE49-F238E27FC236}">
                <a16:creationId xmlns:a16="http://schemas.microsoft.com/office/drawing/2014/main" id="{8BCB0C3F-8AAC-406B-908D-2F3C4E451177}"/>
              </a:ext>
            </a:extLst>
          </p:cNvPr>
          <p:cNvPicPr>
            <a:picLocks noChangeAspect="1"/>
          </p:cNvPicPr>
          <p:nvPr/>
        </p:nvPicPr>
        <p:blipFill>
          <a:blip r:embed="rId2"/>
          <a:stretch>
            <a:fillRect/>
          </a:stretch>
        </p:blipFill>
        <p:spPr>
          <a:xfrm>
            <a:off x="862012" y="1852614"/>
            <a:ext cx="10467975" cy="4686300"/>
          </a:xfrm>
          <a:prstGeom prst="rect">
            <a:avLst/>
          </a:prstGeom>
        </p:spPr>
      </p:pic>
    </p:spTree>
    <p:extLst>
      <p:ext uri="{BB962C8B-B14F-4D97-AF65-F5344CB8AC3E}">
        <p14:creationId xmlns:p14="http://schemas.microsoft.com/office/powerpoint/2010/main" val="814841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F07A59-5B26-4471-BC38-8FFB83559616}"/>
              </a:ext>
            </a:extLst>
          </p:cNvPr>
          <p:cNvSpPr>
            <a:spLocks noGrp="1"/>
          </p:cNvSpPr>
          <p:nvPr>
            <p:ph idx="1"/>
          </p:nvPr>
        </p:nvSpPr>
        <p:spPr>
          <a:xfrm>
            <a:off x="149247" y="136523"/>
            <a:ext cx="11834648" cy="6544313"/>
          </a:xfrm>
        </p:spPr>
        <p:txBody>
          <a:bodyPr>
            <a:noAutofit/>
          </a:bodyPr>
          <a:lstStyle/>
          <a:p>
            <a:pPr algn="just"/>
            <a:endParaRPr lang="en-US" sz="2600" dirty="0">
              <a:latin typeface="Times New Roman" panose="02020603050405020304" pitchFamily="18" charset="0"/>
              <a:ea typeface="Verdana" panose="020B0604030504040204" pitchFamily="34" charset="0"/>
              <a:cs typeface="Times New Roman" panose="02020603050405020304" pitchFamily="18" charset="0"/>
            </a:endParaRPr>
          </a:p>
          <a:p>
            <a:pPr algn="just"/>
            <a:endParaRPr lang="en-US" sz="26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D004500-2ADE-4E69-A1E9-1543118B9AE2}"/>
              </a:ext>
            </a:extLst>
          </p:cNvPr>
          <p:cNvSpPr>
            <a:spLocks noGrp="1"/>
          </p:cNvSpPr>
          <p:nvPr>
            <p:ph type="sldNum" sz="quarter" idx="12"/>
          </p:nvPr>
        </p:nvSpPr>
        <p:spPr/>
        <p:txBody>
          <a:bodyPr/>
          <a:lstStyle/>
          <a:p>
            <a:fld id="{9780A1CE-6C3C-4CE8-9D96-B7A0620EDD62}" type="slidenum">
              <a:rPr lang="en-IN" sz="1600" smtClean="0"/>
              <a:t>4</a:t>
            </a:fld>
            <a:endParaRPr lang="en-IN" sz="1600" dirty="0"/>
          </a:p>
        </p:txBody>
      </p:sp>
      <p:pic>
        <p:nvPicPr>
          <p:cNvPr id="2" name="Picture 1">
            <a:extLst>
              <a:ext uri="{FF2B5EF4-FFF2-40B4-BE49-F238E27FC236}">
                <a16:creationId xmlns:a16="http://schemas.microsoft.com/office/drawing/2014/main" id="{89B690A4-9FA9-40ED-9D72-4902FBF7B96C}"/>
              </a:ext>
            </a:extLst>
          </p:cNvPr>
          <p:cNvPicPr>
            <a:picLocks noChangeAspect="1"/>
          </p:cNvPicPr>
          <p:nvPr/>
        </p:nvPicPr>
        <p:blipFill>
          <a:blip r:embed="rId2"/>
          <a:stretch>
            <a:fillRect/>
          </a:stretch>
        </p:blipFill>
        <p:spPr>
          <a:xfrm>
            <a:off x="304800" y="177164"/>
            <a:ext cx="8305800" cy="4171950"/>
          </a:xfrm>
          <a:prstGeom prst="rect">
            <a:avLst/>
          </a:prstGeom>
        </p:spPr>
      </p:pic>
    </p:spTree>
    <p:extLst>
      <p:ext uri="{BB962C8B-B14F-4D97-AF65-F5344CB8AC3E}">
        <p14:creationId xmlns:p14="http://schemas.microsoft.com/office/powerpoint/2010/main" val="2600541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F07A59-5B26-4471-BC38-8FFB83559616}"/>
              </a:ext>
            </a:extLst>
          </p:cNvPr>
          <p:cNvSpPr>
            <a:spLocks noGrp="1"/>
          </p:cNvSpPr>
          <p:nvPr>
            <p:ph idx="1"/>
          </p:nvPr>
        </p:nvSpPr>
        <p:spPr>
          <a:xfrm>
            <a:off x="149247" y="136523"/>
            <a:ext cx="11834648" cy="6544313"/>
          </a:xfrm>
        </p:spPr>
        <p:txBody>
          <a:bodyPr>
            <a:noAutofit/>
          </a:bodyPr>
          <a:lstStyle/>
          <a:p>
            <a:pPr algn="just"/>
            <a:r>
              <a:rPr lang="en-US" sz="2600" dirty="0">
                <a:latin typeface="Times New Roman" panose="02020603050405020304" pitchFamily="18" charset="0"/>
                <a:ea typeface="Verdana" panose="020B0604030504040204" pitchFamily="34" charset="0"/>
                <a:cs typeface="Times New Roman" panose="02020603050405020304" pitchFamily="18" charset="0"/>
              </a:rPr>
              <a:t>a</a:t>
            </a:r>
          </a:p>
          <a:p>
            <a:pPr algn="just"/>
            <a:endParaRPr lang="en-US" sz="26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D004500-2ADE-4E69-A1E9-1543118B9AE2}"/>
              </a:ext>
            </a:extLst>
          </p:cNvPr>
          <p:cNvSpPr>
            <a:spLocks noGrp="1"/>
          </p:cNvSpPr>
          <p:nvPr>
            <p:ph type="sldNum" sz="quarter" idx="12"/>
          </p:nvPr>
        </p:nvSpPr>
        <p:spPr/>
        <p:txBody>
          <a:bodyPr/>
          <a:lstStyle/>
          <a:p>
            <a:fld id="{9780A1CE-6C3C-4CE8-9D96-B7A0620EDD62}" type="slidenum">
              <a:rPr lang="en-IN" sz="1600" smtClean="0"/>
              <a:t>5</a:t>
            </a:fld>
            <a:endParaRPr lang="en-IN" sz="1600" dirty="0"/>
          </a:p>
        </p:txBody>
      </p:sp>
      <p:pic>
        <p:nvPicPr>
          <p:cNvPr id="5" name="Picture 4">
            <a:extLst>
              <a:ext uri="{FF2B5EF4-FFF2-40B4-BE49-F238E27FC236}">
                <a16:creationId xmlns:a16="http://schemas.microsoft.com/office/drawing/2014/main" id="{726A615E-9AD6-45EB-A34A-5D88E4707ABF}"/>
              </a:ext>
            </a:extLst>
          </p:cNvPr>
          <p:cNvPicPr>
            <a:picLocks noChangeAspect="1"/>
          </p:cNvPicPr>
          <p:nvPr/>
        </p:nvPicPr>
        <p:blipFill>
          <a:blip r:embed="rId2"/>
          <a:stretch>
            <a:fillRect/>
          </a:stretch>
        </p:blipFill>
        <p:spPr>
          <a:xfrm>
            <a:off x="149247" y="172083"/>
            <a:ext cx="5476875" cy="4838700"/>
          </a:xfrm>
          <a:prstGeom prst="rect">
            <a:avLst/>
          </a:prstGeom>
        </p:spPr>
      </p:pic>
    </p:spTree>
    <p:extLst>
      <p:ext uri="{BB962C8B-B14F-4D97-AF65-F5344CB8AC3E}">
        <p14:creationId xmlns:p14="http://schemas.microsoft.com/office/powerpoint/2010/main" val="2194884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2D8BBC8-B4A0-45B8-BDA3-391AF7EEB149}"/>
              </a:ext>
            </a:extLst>
          </p:cNvPr>
          <p:cNvPicPr>
            <a:picLocks noGrp="1" noChangeAspect="1"/>
          </p:cNvPicPr>
          <p:nvPr>
            <p:ph idx="1"/>
          </p:nvPr>
        </p:nvPicPr>
        <p:blipFill>
          <a:blip r:embed="rId2"/>
          <a:stretch>
            <a:fillRect/>
          </a:stretch>
        </p:blipFill>
        <p:spPr>
          <a:xfrm>
            <a:off x="158189" y="124454"/>
            <a:ext cx="4886326" cy="2832105"/>
          </a:xfrm>
          <a:prstGeom prst="rect">
            <a:avLst/>
          </a:prstGeom>
        </p:spPr>
      </p:pic>
      <p:sp>
        <p:nvSpPr>
          <p:cNvPr id="4" name="Slide Number Placeholder 3">
            <a:extLst>
              <a:ext uri="{FF2B5EF4-FFF2-40B4-BE49-F238E27FC236}">
                <a16:creationId xmlns:a16="http://schemas.microsoft.com/office/drawing/2014/main" id="{FD004500-2ADE-4E69-A1E9-1543118B9AE2}"/>
              </a:ext>
            </a:extLst>
          </p:cNvPr>
          <p:cNvSpPr>
            <a:spLocks noGrp="1"/>
          </p:cNvSpPr>
          <p:nvPr>
            <p:ph type="sldNum" sz="quarter" idx="12"/>
          </p:nvPr>
        </p:nvSpPr>
        <p:spPr/>
        <p:txBody>
          <a:bodyPr/>
          <a:lstStyle/>
          <a:p>
            <a:fld id="{9780A1CE-6C3C-4CE8-9D96-B7A0620EDD62}" type="slidenum">
              <a:rPr lang="en-IN" sz="1600" smtClean="0"/>
              <a:t>6</a:t>
            </a:fld>
            <a:endParaRPr lang="en-IN" sz="1600" dirty="0"/>
          </a:p>
        </p:txBody>
      </p:sp>
      <p:pic>
        <p:nvPicPr>
          <p:cNvPr id="7" name="Picture 6">
            <a:extLst>
              <a:ext uri="{FF2B5EF4-FFF2-40B4-BE49-F238E27FC236}">
                <a16:creationId xmlns:a16="http://schemas.microsoft.com/office/drawing/2014/main" id="{938B7A6F-853B-4F58-BCB0-DC29FB3C75CD}"/>
              </a:ext>
            </a:extLst>
          </p:cNvPr>
          <p:cNvPicPr>
            <a:picLocks noChangeAspect="1"/>
          </p:cNvPicPr>
          <p:nvPr/>
        </p:nvPicPr>
        <p:blipFill>
          <a:blip r:embed="rId3"/>
          <a:stretch>
            <a:fillRect/>
          </a:stretch>
        </p:blipFill>
        <p:spPr>
          <a:xfrm>
            <a:off x="158189" y="2875281"/>
            <a:ext cx="4886326" cy="3749040"/>
          </a:xfrm>
          <a:prstGeom prst="rect">
            <a:avLst/>
          </a:prstGeom>
        </p:spPr>
      </p:pic>
      <p:pic>
        <p:nvPicPr>
          <p:cNvPr id="8" name="Picture 7">
            <a:extLst>
              <a:ext uri="{FF2B5EF4-FFF2-40B4-BE49-F238E27FC236}">
                <a16:creationId xmlns:a16="http://schemas.microsoft.com/office/drawing/2014/main" id="{36D6D520-F61D-4B2F-A0BA-AEF084541528}"/>
              </a:ext>
            </a:extLst>
          </p:cNvPr>
          <p:cNvPicPr>
            <a:picLocks noChangeAspect="1"/>
          </p:cNvPicPr>
          <p:nvPr/>
        </p:nvPicPr>
        <p:blipFill>
          <a:blip r:embed="rId4"/>
          <a:stretch>
            <a:fillRect/>
          </a:stretch>
        </p:blipFill>
        <p:spPr>
          <a:xfrm>
            <a:off x="6610668" y="246062"/>
            <a:ext cx="4886325" cy="4791075"/>
          </a:xfrm>
          <a:prstGeom prst="rect">
            <a:avLst/>
          </a:prstGeom>
        </p:spPr>
      </p:pic>
    </p:spTree>
    <p:extLst>
      <p:ext uri="{BB962C8B-B14F-4D97-AF65-F5344CB8AC3E}">
        <p14:creationId xmlns:p14="http://schemas.microsoft.com/office/powerpoint/2010/main" val="1895140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004500-2ADE-4E69-A1E9-1543118B9AE2}"/>
              </a:ext>
            </a:extLst>
          </p:cNvPr>
          <p:cNvSpPr>
            <a:spLocks noGrp="1"/>
          </p:cNvSpPr>
          <p:nvPr>
            <p:ph type="sldNum" sz="quarter" idx="12"/>
          </p:nvPr>
        </p:nvSpPr>
        <p:spPr/>
        <p:txBody>
          <a:bodyPr/>
          <a:lstStyle/>
          <a:p>
            <a:fld id="{9780A1CE-6C3C-4CE8-9D96-B7A0620EDD62}" type="slidenum">
              <a:rPr lang="en-IN" sz="1600" smtClean="0"/>
              <a:t>7</a:t>
            </a:fld>
            <a:endParaRPr lang="en-IN" sz="1600" dirty="0"/>
          </a:p>
        </p:txBody>
      </p:sp>
      <p:pic>
        <p:nvPicPr>
          <p:cNvPr id="2" name="Picture 1">
            <a:extLst>
              <a:ext uri="{FF2B5EF4-FFF2-40B4-BE49-F238E27FC236}">
                <a16:creationId xmlns:a16="http://schemas.microsoft.com/office/drawing/2014/main" id="{DC8DB85D-1972-4C1E-B663-17DB89F8ED1E}"/>
              </a:ext>
            </a:extLst>
          </p:cNvPr>
          <p:cNvPicPr>
            <a:picLocks noChangeAspect="1"/>
          </p:cNvPicPr>
          <p:nvPr/>
        </p:nvPicPr>
        <p:blipFill>
          <a:blip r:embed="rId2"/>
          <a:stretch>
            <a:fillRect/>
          </a:stretch>
        </p:blipFill>
        <p:spPr>
          <a:xfrm>
            <a:off x="350837" y="361315"/>
            <a:ext cx="5191125" cy="4591050"/>
          </a:xfrm>
          <a:prstGeom prst="rect">
            <a:avLst/>
          </a:prstGeom>
        </p:spPr>
      </p:pic>
    </p:spTree>
    <p:extLst>
      <p:ext uri="{BB962C8B-B14F-4D97-AF65-F5344CB8AC3E}">
        <p14:creationId xmlns:p14="http://schemas.microsoft.com/office/powerpoint/2010/main" val="4150613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F07A59-5B26-4471-BC38-8FFB83559616}"/>
              </a:ext>
            </a:extLst>
          </p:cNvPr>
          <p:cNvSpPr>
            <a:spLocks noGrp="1"/>
          </p:cNvSpPr>
          <p:nvPr>
            <p:ph idx="1"/>
          </p:nvPr>
        </p:nvSpPr>
        <p:spPr>
          <a:xfrm>
            <a:off x="149247" y="136523"/>
            <a:ext cx="11834648" cy="6544313"/>
          </a:xfrm>
        </p:spPr>
        <p:txBody>
          <a:bodyPr>
            <a:noAutofit/>
          </a:bodyPr>
          <a:lstStyle/>
          <a:p>
            <a:pPr marL="0" indent="0" algn="just">
              <a:buNone/>
            </a:pPr>
            <a:r>
              <a:rPr lang="en-US" sz="2600" b="1" dirty="0">
                <a:latin typeface="Times New Roman" panose="02020603050405020304" pitchFamily="18" charset="0"/>
                <a:ea typeface="Verdana" panose="020B0604030504040204" pitchFamily="34" charset="0"/>
                <a:cs typeface="Times New Roman" panose="02020603050405020304" pitchFamily="18" charset="0"/>
              </a:rPr>
              <a:t>3.5.2 Cost Function</a:t>
            </a:r>
          </a:p>
          <a:p>
            <a:pPr marL="0" indent="0" algn="just">
              <a:buNone/>
            </a:pPr>
            <a:endParaRPr lang="en-US" sz="2600" b="1" dirty="0">
              <a:latin typeface="Times New Roman" panose="02020603050405020304" pitchFamily="18" charset="0"/>
              <a:ea typeface="Verdana" panose="020B0604030504040204" pitchFamily="34" charset="0"/>
              <a:cs typeface="Times New Roman" panose="02020603050405020304" pitchFamily="18" charset="0"/>
            </a:endParaRPr>
          </a:p>
          <a:p>
            <a:pPr marL="0" indent="0" algn="just">
              <a:buNone/>
            </a:pPr>
            <a:endParaRPr lang="en-US" sz="26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D004500-2ADE-4E69-A1E9-1543118B9AE2}"/>
              </a:ext>
            </a:extLst>
          </p:cNvPr>
          <p:cNvSpPr>
            <a:spLocks noGrp="1"/>
          </p:cNvSpPr>
          <p:nvPr>
            <p:ph type="sldNum" sz="quarter" idx="12"/>
          </p:nvPr>
        </p:nvSpPr>
        <p:spPr/>
        <p:txBody>
          <a:bodyPr/>
          <a:lstStyle/>
          <a:p>
            <a:fld id="{9780A1CE-6C3C-4CE8-9D96-B7A0620EDD62}" type="slidenum">
              <a:rPr lang="en-IN" sz="1600" smtClean="0"/>
              <a:t>8</a:t>
            </a:fld>
            <a:endParaRPr lang="en-IN" sz="1600" dirty="0"/>
          </a:p>
        </p:txBody>
      </p:sp>
      <p:pic>
        <p:nvPicPr>
          <p:cNvPr id="2" name="Picture 1">
            <a:extLst>
              <a:ext uri="{FF2B5EF4-FFF2-40B4-BE49-F238E27FC236}">
                <a16:creationId xmlns:a16="http://schemas.microsoft.com/office/drawing/2014/main" id="{E140613F-95E4-4BF8-89BC-F05F5F1F38C3}"/>
              </a:ext>
            </a:extLst>
          </p:cNvPr>
          <p:cNvPicPr>
            <a:picLocks noChangeAspect="1"/>
          </p:cNvPicPr>
          <p:nvPr/>
        </p:nvPicPr>
        <p:blipFill>
          <a:blip r:embed="rId2"/>
          <a:stretch>
            <a:fillRect/>
          </a:stretch>
        </p:blipFill>
        <p:spPr>
          <a:xfrm>
            <a:off x="404812" y="887412"/>
            <a:ext cx="10382250" cy="1933575"/>
          </a:xfrm>
          <a:prstGeom prst="rect">
            <a:avLst/>
          </a:prstGeom>
        </p:spPr>
      </p:pic>
      <p:pic>
        <p:nvPicPr>
          <p:cNvPr id="5" name="Picture 4">
            <a:extLst>
              <a:ext uri="{FF2B5EF4-FFF2-40B4-BE49-F238E27FC236}">
                <a16:creationId xmlns:a16="http://schemas.microsoft.com/office/drawing/2014/main" id="{678EC40B-4598-41AD-9D3F-5B5166F92D09}"/>
              </a:ext>
            </a:extLst>
          </p:cNvPr>
          <p:cNvPicPr>
            <a:picLocks noChangeAspect="1"/>
          </p:cNvPicPr>
          <p:nvPr/>
        </p:nvPicPr>
        <p:blipFill>
          <a:blip r:embed="rId3"/>
          <a:stretch>
            <a:fillRect/>
          </a:stretch>
        </p:blipFill>
        <p:spPr>
          <a:xfrm>
            <a:off x="404812" y="3485198"/>
            <a:ext cx="10382250" cy="2181225"/>
          </a:xfrm>
          <a:prstGeom prst="rect">
            <a:avLst/>
          </a:prstGeom>
        </p:spPr>
      </p:pic>
    </p:spTree>
    <p:extLst>
      <p:ext uri="{BB962C8B-B14F-4D97-AF65-F5344CB8AC3E}">
        <p14:creationId xmlns:p14="http://schemas.microsoft.com/office/powerpoint/2010/main" val="3809624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F07A59-5B26-4471-BC38-8FFB83559616}"/>
              </a:ext>
            </a:extLst>
          </p:cNvPr>
          <p:cNvSpPr>
            <a:spLocks noGrp="1"/>
          </p:cNvSpPr>
          <p:nvPr>
            <p:ph idx="1"/>
          </p:nvPr>
        </p:nvSpPr>
        <p:spPr>
          <a:xfrm>
            <a:off x="149247" y="136523"/>
            <a:ext cx="11834648" cy="6544313"/>
          </a:xfrm>
        </p:spPr>
        <p:txBody>
          <a:bodyPr>
            <a:noAutofit/>
          </a:bodyPr>
          <a:lstStyle/>
          <a:p>
            <a:pPr marL="0" indent="0" algn="just">
              <a:buNone/>
            </a:pPr>
            <a:r>
              <a:rPr lang="en-IN" b="1" dirty="0"/>
              <a:t>3.5.3 Gradient Descent </a:t>
            </a:r>
          </a:p>
          <a:p>
            <a:pPr marL="0" indent="0" algn="just">
              <a:buNone/>
            </a:pPr>
            <a:r>
              <a:rPr lang="en-US" dirty="0"/>
              <a:t>Now that you have the right cost function, you can apply the Gradient Descent algorithm. Slope of J with respect to any </a:t>
            </a:r>
            <a:r>
              <a:rPr lang="en-US" dirty="0" err="1"/>
              <a:t>θj</a:t>
            </a:r>
            <a:r>
              <a:rPr lang="en-US" dirty="0"/>
              <a:t> is given again by Eq. 3.9 (being reproduced):</a:t>
            </a:r>
            <a:endParaRPr lang="en-US"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D004500-2ADE-4E69-A1E9-1543118B9AE2}"/>
              </a:ext>
            </a:extLst>
          </p:cNvPr>
          <p:cNvSpPr>
            <a:spLocks noGrp="1"/>
          </p:cNvSpPr>
          <p:nvPr>
            <p:ph type="sldNum" sz="quarter" idx="12"/>
          </p:nvPr>
        </p:nvSpPr>
        <p:spPr/>
        <p:txBody>
          <a:bodyPr/>
          <a:lstStyle/>
          <a:p>
            <a:fld id="{9780A1CE-6C3C-4CE8-9D96-B7A0620EDD62}" type="slidenum">
              <a:rPr lang="en-IN" sz="1600" smtClean="0"/>
              <a:t>9</a:t>
            </a:fld>
            <a:endParaRPr lang="en-IN" sz="1600" dirty="0"/>
          </a:p>
        </p:txBody>
      </p:sp>
      <p:pic>
        <p:nvPicPr>
          <p:cNvPr id="2" name="Picture 1">
            <a:extLst>
              <a:ext uri="{FF2B5EF4-FFF2-40B4-BE49-F238E27FC236}">
                <a16:creationId xmlns:a16="http://schemas.microsoft.com/office/drawing/2014/main" id="{C7AFFE26-AE8A-4007-A576-4036CA8B26E7}"/>
              </a:ext>
            </a:extLst>
          </p:cNvPr>
          <p:cNvPicPr>
            <a:picLocks noChangeAspect="1"/>
          </p:cNvPicPr>
          <p:nvPr/>
        </p:nvPicPr>
        <p:blipFill>
          <a:blip r:embed="rId2"/>
          <a:stretch>
            <a:fillRect/>
          </a:stretch>
        </p:blipFill>
        <p:spPr>
          <a:xfrm>
            <a:off x="674370" y="1901827"/>
            <a:ext cx="10477500" cy="4819650"/>
          </a:xfrm>
          <a:prstGeom prst="rect">
            <a:avLst/>
          </a:prstGeom>
        </p:spPr>
      </p:pic>
    </p:spTree>
    <p:extLst>
      <p:ext uri="{BB962C8B-B14F-4D97-AF65-F5344CB8AC3E}">
        <p14:creationId xmlns:p14="http://schemas.microsoft.com/office/powerpoint/2010/main" val="208067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C9CA6-31D8-4F8D-ACB1-84AD1CB37096}"/>
              </a:ext>
            </a:extLst>
          </p:cNvPr>
          <p:cNvSpPr>
            <a:spLocks noGrp="1"/>
          </p:cNvSpPr>
          <p:nvPr>
            <p:ph type="ctrTitle"/>
          </p:nvPr>
        </p:nvSpPr>
        <p:spPr>
          <a:xfrm>
            <a:off x="508000" y="299403"/>
            <a:ext cx="9997440" cy="482917"/>
          </a:xfrm>
        </p:spPr>
        <p:txBody>
          <a:bodyPr>
            <a:normAutofit fontScale="90000"/>
          </a:bodyPr>
          <a:lstStyle/>
          <a:p>
            <a:pPr algn="l"/>
            <a:r>
              <a:rPr lang="en-US" sz="3200" b="1" dirty="0"/>
              <a:t>Exercise-1: Linear regression with Stochastic Gradient Descent</a:t>
            </a:r>
            <a:endParaRPr lang="en-IN" sz="3200" b="1" dirty="0"/>
          </a:p>
        </p:txBody>
      </p:sp>
      <p:pic>
        <p:nvPicPr>
          <p:cNvPr id="3" name="Picture 2">
            <a:extLst>
              <a:ext uri="{FF2B5EF4-FFF2-40B4-BE49-F238E27FC236}">
                <a16:creationId xmlns:a16="http://schemas.microsoft.com/office/drawing/2014/main" id="{120649D3-F231-4050-A973-4001EB02901D}"/>
              </a:ext>
            </a:extLst>
          </p:cNvPr>
          <p:cNvPicPr>
            <a:picLocks noChangeAspect="1"/>
          </p:cNvPicPr>
          <p:nvPr/>
        </p:nvPicPr>
        <p:blipFill>
          <a:blip r:embed="rId2"/>
          <a:stretch>
            <a:fillRect/>
          </a:stretch>
        </p:blipFill>
        <p:spPr>
          <a:xfrm>
            <a:off x="508000" y="919797"/>
            <a:ext cx="8210550" cy="4124325"/>
          </a:xfrm>
          <a:prstGeom prst="rect">
            <a:avLst/>
          </a:prstGeom>
        </p:spPr>
      </p:pic>
    </p:spTree>
    <p:extLst>
      <p:ext uri="{BB962C8B-B14F-4D97-AF65-F5344CB8AC3E}">
        <p14:creationId xmlns:p14="http://schemas.microsoft.com/office/powerpoint/2010/main" val="3824349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B47EC-9598-49DB-8929-35FBB23D8C09}"/>
              </a:ext>
            </a:extLst>
          </p:cNvPr>
          <p:cNvSpPr/>
          <p:nvPr/>
        </p:nvSpPr>
        <p:spPr>
          <a:xfrm>
            <a:off x="417225" y="643374"/>
            <a:ext cx="11287095" cy="5016758"/>
          </a:xfrm>
          <a:prstGeom prst="rect">
            <a:avLst/>
          </a:prstGeom>
        </p:spPr>
        <p:txBody>
          <a:bodyPr wrap="square">
            <a:spAutoFit/>
          </a:bodyPr>
          <a:lstStyle/>
          <a:p>
            <a:r>
              <a:rPr lang="pt-BR" sz="3200" dirty="0"/>
              <a:t>Initially, assume a0 ​= 0  and  a1=0   </a:t>
            </a:r>
          </a:p>
          <a:p>
            <a:r>
              <a:rPr lang="pt-BR" sz="3200" dirty="0"/>
              <a:t>     </a:t>
            </a:r>
          </a:p>
          <a:p>
            <a:r>
              <a:rPr lang="en-US" sz="3200" dirty="0"/>
              <a:t>Learning Rate: α=0.0001</a:t>
            </a:r>
          </a:p>
          <a:p>
            <a:endParaRPr lang="en-US" sz="3200" dirty="0"/>
          </a:p>
          <a:p>
            <a:r>
              <a:rPr lang="en-US" sz="3200" dirty="0"/>
              <a:t>Model:                                             Error: </a:t>
            </a:r>
          </a:p>
          <a:p>
            <a:endParaRPr lang="en-US" sz="3200" dirty="0"/>
          </a:p>
          <a:p>
            <a:endParaRPr lang="en-US" sz="3200" dirty="0"/>
          </a:p>
          <a:p>
            <a:r>
              <a:rPr lang="en-US" sz="3200" dirty="0"/>
              <a:t>Gradients:                                       Updates: </a:t>
            </a:r>
          </a:p>
          <a:p>
            <a:endParaRPr lang="en-US" sz="3200" dirty="0"/>
          </a:p>
          <a:p>
            <a:endParaRPr lang="en-IN" sz="3200" dirty="0"/>
          </a:p>
        </p:txBody>
      </p:sp>
      <p:pic>
        <p:nvPicPr>
          <p:cNvPr id="8" name="Picture 7">
            <a:extLst>
              <a:ext uri="{FF2B5EF4-FFF2-40B4-BE49-F238E27FC236}">
                <a16:creationId xmlns:a16="http://schemas.microsoft.com/office/drawing/2014/main" id="{16A11FDD-18A0-48C9-A2E4-1CDD8526AC6B}"/>
              </a:ext>
            </a:extLst>
          </p:cNvPr>
          <p:cNvPicPr>
            <a:picLocks noChangeAspect="1"/>
          </p:cNvPicPr>
          <p:nvPr/>
        </p:nvPicPr>
        <p:blipFill>
          <a:blip r:embed="rId2"/>
          <a:stretch>
            <a:fillRect/>
          </a:stretch>
        </p:blipFill>
        <p:spPr>
          <a:xfrm>
            <a:off x="1930400" y="2437571"/>
            <a:ext cx="2113280" cy="700024"/>
          </a:xfrm>
          <a:prstGeom prst="rect">
            <a:avLst/>
          </a:prstGeom>
        </p:spPr>
      </p:pic>
      <p:pic>
        <p:nvPicPr>
          <p:cNvPr id="9" name="Picture 8">
            <a:extLst>
              <a:ext uri="{FF2B5EF4-FFF2-40B4-BE49-F238E27FC236}">
                <a16:creationId xmlns:a16="http://schemas.microsoft.com/office/drawing/2014/main" id="{621E6A73-1FC5-4B72-BF97-3CA008773EFD}"/>
              </a:ext>
            </a:extLst>
          </p:cNvPr>
          <p:cNvPicPr>
            <a:picLocks noChangeAspect="1"/>
          </p:cNvPicPr>
          <p:nvPr/>
        </p:nvPicPr>
        <p:blipFill>
          <a:blip r:embed="rId3"/>
          <a:stretch>
            <a:fillRect/>
          </a:stretch>
        </p:blipFill>
        <p:spPr>
          <a:xfrm>
            <a:off x="7098664" y="2588842"/>
            <a:ext cx="1669415" cy="701154"/>
          </a:xfrm>
          <a:prstGeom prst="rect">
            <a:avLst/>
          </a:prstGeom>
        </p:spPr>
      </p:pic>
      <p:pic>
        <p:nvPicPr>
          <p:cNvPr id="10" name="Picture 9">
            <a:extLst>
              <a:ext uri="{FF2B5EF4-FFF2-40B4-BE49-F238E27FC236}">
                <a16:creationId xmlns:a16="http://schemas.microsoft.com/office/drawing/2014/main" id="{A2C52BA7-C418-4CB8-BFCD-966934936BF1}"/>
              </a:ext>
            </a:extLst>
          </p:cNvPr>
          <p:cNvPicPr>
            <a:picLocks noChangeAspect="1"/>
          </p:cNvPicPr>
          <p:nvPr/>
        </p:nvPicPr>
        <p:blipFill>
          <a:blip r:embed="rId4"/>
          <a:stretch>
            <a:fillRect/>
          </a:stretch>
        </p:blipFill>
        <p:spPr>
          <a:xfrm>
            <a:off x="2339976" y="3720406"/>
            <a:ext cx="2243455" cy="2028174"/>
          </a:xfrm>
          <a:prstGeom prst="rect">
            <a:avLst/>
          </a:prstGeom>
        </p:spPr>
      </p:pic>
      <p:pic>
        <p:nvPicPr>
          <p:cNvPr id="11" name="Picture 10">
            <a:extLst>
              <a:ext uri="{FF2B5EF4-FFF2-40B4-BE49-F238E27FC236}">
                <a16:creationId xmlns:a16="http://schemas.microsoft.com/office/drawing/2014/main" id="{B630B0F2-6F0B-42F5-A92F-124BD477E849}"/>
              </a:ext>
            </a:extLst>
          </p:cNvPr>
          <p:cNvPicPr>
            <a:picLocks noChangeAspect="1"/>
          </p:cNvPicPr>
          <p:nvPr/>
        </p:nvPicPr>
        <p:blipFill>
          <a:blip r:embed="rId5"/>
          <a:stretch>
            <a:fillRect/>
          </a:stretch>
        </p:blipFill>
        <p:spPr>
          <a:xfrm>
            <a:off x="7431404" y="3866700"/>
            <a:ext cx="2673350" cy="2150562"/>
          </a:xfrm>
          <a:prstGeom prst="rect">
            <a:avLst/>
          </a:prstGeom>
        </p:spPr>
      </p:pic>
    </p:spTree>
    <p:extLst>
      <p:ext uri="{BB962C8B-B14F-4D97-AF65-F5344CB8AC3E}">
        <p14:creationId xmlns:p14="http://schemas.microsoft.com/office/powerpoint/2010/main" val="1675148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B47EC-9598-49DB-8929-35FBB23D8C09}"/>
              </a:ext>
            </a:extLst>
          </p:cNvPr>
          <p:cNvSpPr/>
          <p:nvPr/>
        </p:nvSpPr>
        <p:spPr>
          <a:xfrm>
            <a:off x="295305" y="226814"/>
            <a:ext cx="11287095" cy="584775"/>
          </a:xfrm>
          <a:prstGeom prst="rect">
            <a:avLst/>
          </a:prstGeom>
        </p:spPr>
        <p:txBody>
          <a:bodyPr wrap="square">
            <a:spAutoFit/>
          </a:bodyPr>
          <a:lstStyle/>
          <a:p>
            <a:r>
              <a:rPr lang="en-US" sz="3200" b="1" dirty="0"/>
              <a:t>   Iteration-1</a:t>
            </a:r>
            <a:endParaRPr lang="en-IN" sz="3200" b="1" dirty="0"/>
          </a:p>
        </p:txBody>
      </p:sp>
      <p:pic>
        <p:nvPicPr>
          <p:cNvPr id="2" name="Picture 1">
            <a:extLst>
              <a:ext uri="{FF2B5EF4-FFF2-40B4-BE49-F238E27FC236}">
                <a16:creationId xmlns:a16="http://schemas.microsoft.com/office/drawing/2014/main" id="{0048AABB-E861-4419-8C8E-6A0B0B54E8BF}"/>
              </a:ext>
            </a:extLst>
          </p:cNvPr>
          <p:cNvPicPr>
            <a:picLocks noChangeAspect="1"/>
          </p:cNvPicPr>
          <p:nvPr/>
        </p:nvPicPr>
        <p:blipFill>
          <a:blip r:embed="rId2"/>
          <a:stretch>
            <a:fillRect/>
          </a:stretch>
        </p:blipFill>
        <p:spPr>
          <a:xfrm>
            <a:off x="132080" y="878086"/>
            <a:ext cx="6187440" cy="5753100"/>
          </a:xfrm>
          <a:prstGeom prst="rect">
            <a:avLst/>
          </a:prstGeom>
        </p:spPr>
      </p:pic>
      <p:pic>
        <p:nvPicPr>
          <p:cNvPr id="3" name="Picture 2">
            <a:extLst>
              <a:ext uri="{FF2B5EF4-FFF2-40B4-BE49-F238E27FC236}">
                <a16:creationId xmlns:a16="http://schemas.microsoft.com/office/drawing/2014/main" id="{09DDFC56-E267-49D8-8A1F-09DA9EA4C86B}"/>
              </a:ext>
            </a:extLst>
          </p:cNvPr>
          <p:cNvPicPr>
            <a:picLocks noChangeAspect="1"/>
          </p:cNvPicPr>
          <p:nvPr/>
        </p:nvPicPr>
        <p:blipFill>
          <a:blip r:embed="rId3"/>
          <a:stretch>
            <a:fillRect/>
          </a:stretch>
        </p:blipFill>
        <p:spPr>
          <a:xfrm>
            <a:off x="6512560" y="1398905"/>
            <a:ext cx="5403215" cy="3714750"/>
          </a:xfrm>
          <a:prstGeom prst="rect">
            <a:avLst/>
          </a:prstGeom>
        </p:spPr>
      </p:pic>
      <p:cxnSp>
        <p:nvCxnSpPr>
          <p:cNvPr id="6" name="Straight Connector 5">
            <a:extLst>
              <a:ext uri="{FF2B5EF4-FFF2-40B4-BE49-F238E27FC236}">
                <a16:creationId xmlns:a16="http://schemas.microsoft.com/office/drawing/2014/main" id="{06E555F7-BF92-4896-841D-EF54E3BE7FDB}"/>
              </a:ext>
            </a:extLst>
          </p:cNvPr>
          <p:cNvCxnSpPr>
            <a:cxnSpLocks/>
          </p:cNvCxnSpPr>
          <p:nvPr/>
        </p:nvCxnSpPr>
        <p:spPr>
          <a:xfrm>
            <a:off x="6096000" y="335280"/>
            <a:ext cx="0" cy="6400800"/>
          </a:xfrm>
          <a:prstGeom prst="line">
            <a:avLst/>
          </a:prstGeom>
          <a:ln w="508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3722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B47EC-9598-49DB-8929-35FBB23D8C09}"/>
              </a:ext>
            </a:extLst>
          </p:cNvPr>
          <p:cNvSpPr/>
          <p:nvPr/>
        </p:nvSpPr>
        <p:spPr>
          <a:xfrm>
            <a:off x="335280" y="42892"/>
            <a:ext cx="11094720" cy="584775"/>
          </a:xfrm>
          <a:prstGeom prst="rect">
            <a:avLst/>
          </a:prstGeom>
        </p:spPr>
        <p:txBody>
          <a:bodyPr wrap="square">
            <a:spAutoFit/>
          </a:bodyPr>
          <a:lstStyle/>
          <a:p>
            <a:r>
              <a:rPr lang="en-US" sz="3200" b="1" dirty="0"/>
              <a:t>   Iteration-2</a:t>
            </a:r>
            <a:endParaRPr lang="en-IN" sz="3200" b="1" dirty="0"/>
          </a:p>
        </p:txBody>
      </p:sp>
      <p:cxnSp>
        <p:nvCxnSpPr>
          <p:cNvPr id="6" name="Straight Connector 5">
            <a:extLst>
              <a:ext uri="{FF2B5EF4-FFF2-40B4-BE49-F238E27FC236}">
                <a16:creationId xmlns:a16="http://schemas.microsoft.com/office/drawing/2014/main" id="{06E555F7-BF92-4896-841D-EF54E3BE7FDB}"/>
              </a:ext>
            </a:extLst>
          </p:cNvPr>
          <p:cNvCxnSpPr>
            <a:cxnSpLocks/>
          </p:cNvCxnSpPr>
          <p:nvPr/>
        </p:nvCxnSpPr>
        <p:spPr>
          <a:xfrm>
            <a:off x="6096000" y="335280"/>
            <a:ext cx="0" cy="640080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7A33681-9850-4D5F-A4EE-FA2CB0A1B1B0}"/>
              </a:ext>
            </a:extLst>
          </p:cNvPr>
          <p:cNvPicPr>
            <a:picLocks noChangeAspect="1"/>
          </p:cNvPicPr>
          <p:nvPr/>
        </p:nvPicPr>
        <p:blipFill>
          <a:blip r:embed="rId2"/>
          <a:stretch>
            <a:fillRect/>
          </a:stretch>
        </p:blipFill>
        <p:spPr>
          <a:xfrm>
            <a:off x="490537" y="627667"/>
            <a:ext cx="5114925" cy="2905125"/>
          </a:xfrm>
          <a:prstGeom prst="rect">
            <a:avLst/>
          </a:prstGeom>
        </p:spPr>
      </p:pic>
      <p:pic>
        <p:nvPicPr>
          <p:cNvPr id="7" name="Picture 6">
            <a:extLst>
              <a:ext uri="{FF2B5EF4-FFF2-40B4-BE49-F238E27FC236}">
                <a16:creationId xmlns:a16="http://schemas.microsoft.com/office/drawing/2014/main" id="{E9E8909F-CFA8-4F01-84E7-8465D79C6619}"/>
              </a:ext>
            </a:extLst>
          </p:cNvPr>
          <p:cNvPicPr>
            <a:picLocks noChangeAspect="1"/>
          </p:cNvPicPr>
          <p:nvPr/>
        </p:nvPicPr>
        <p:blipFill>
          <a:blip r:embed="rId3"/>
          <a:stretch>
            <a:fillRect/>
          </a:stretch>
        </p:blipFill>
        <p:spPr>
          <a:xfrm>
            <a:off x="490537" y="3429000"/>
            <a:ext cx="5114924" cy="3263725"/>
          </a:xfrm>
          <a:prstGeom prst="rect">
            <a:avLst/>
          </a:prstGeom>
        </p:spPr>
      </p:pic>
      <p:pic>
        <p:nvPicPr>
          <p:cNvPr id="8" name="Picture 7">
            <a:extLst>
              <a:ext uri="{FF2B5EF4-FFF2-40B4-BE49-F238E27FC236}">
                <a16:creationId xmlns:a16="http://schemas.microsoft.com/office/drawing/2014/main" id="{5966284A-9E8E-4260-B433-25B3F8446E3C}"/>
              </a:ext>
            </a:extLst>
          </p:cNvPr>
          <p:cNvPicPr>
            <a:picLocks noChangeAspect="1"/>
          </p:cNvPicPr>
          <p:nvPr/>
        </p:nvPicPr>
        <p:blipFill>
          <a:blip r:embed="rId4"/>
          <a:stretch>
            <a:fillRect/>
          </a:stretch>
        </p:blipFill>
        <p:spPr>
          <a:xfrm>
            <a:off x="6475095" y="627667"/>
            <a:ext cx="5381625" cy="5305425"/>
          </a:xfrm>
          <a:prstGeom prst="rect">
            <a:avLst/>
          </a:prstGeom>
        </p:spPr>
      </p:pic>
    </p:spTree>
    <p:extLst>
      <p:ext uri="{BB962C8B-B14F-4D97-AF65-F5344CB8AC3E}">
        <p14:creationId xmlns:p14="http://schemas.microsoft.com/office/powerpoint/2010/main" val="3459782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B47EC-9598-49DB-8929-35FBB23D8C09}"/>
              </a:ext>
            </a:extLst>
          </p:cNvPr>
          <p:cNvSpPr/>
          <p:nvPr/>
        </p:nvSpPr>
        <p:spPr>
          <a:xfrm>
            <a:off x="295305" y="226814"/>
            <a:ext cx="11287095" cy="584775"/>
          </a:xfrm>
          <a:prstGeom prst="rect">
            <a:avLst/>
          </a:prstGeom>
        </p:spPr>
        <p:txBody>
          <a:bodyPr wrap="square">
            <a:spAutoFit/>
          </a:bodyPr>
          <a:lstStyle/>
          <a:p>
            <a:r>
              <a:rPr lang="en-US" sz="3200" b="1" dirty="0"/>
              <a:t>   Iteration-3</a:t>
            </a:r>
            <a:endParaRPr lang="en-IN" sz="3200" b="1" dirty="0"/>
          </a:p>
        </p:txBody>
      </p:sp>
      <p:cxnSp>
        <p:nvCxnSpPr>
          <p:cNvPr id="6" name="Straight Connector 5">
            <a:extLst>
              <a:ext uri="{FF2B5EF4-FFF2-40B4-BE49-F238E27FC236}">
                <a16:creationId xmlns:a16="http://schemas.microsoft.com/office/drawing/2014/main" id="{06E555F7-BF92-4896-841D-EF54E3BE7FDB}"/>
              </a:ext>
            </a:extLst>
          </p:cNvPr>
          <p:cNvCxnSpPr>
            <a:cxnSpLocks/>
          </p:cNvCxnSpPr>
          <p:nvPr/>
        </p:nvCxnSpPr>
        <p:spPr>
          <a:xfrm>
            <a:off x="6096000" y="335280"/>
            <a:ext cx="0" cy="640080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1D15CFC1-C962-47AD-B1FA-029AFCA816B5}"/>
              </a:ext>
            </a:extLst>
          </p:cNvPr>
          <p:cNvPicPr>
            <a:picLocks noChangeAspect="1"/>
          </p:cNvPicPr>
          <p:nvPr/>
        </p:nvPicPr>
        <p:blipFill>
          <a:blip r:embed="rId2"/>
          <a:stretch>
            <a:fillRect/>
          </a:stretch>
        </p:blipFill>
        <p:spPr>
          <a:xfrm>
            <a:off x="401955" y="811589"/>
            <a:ext cx="5353050" cy="5981700"/>
          </a:xfrm>
          <a:prstGeom prst="rect">
            <a:avLst/>
          </a:prstGeom>
        </p:spPr>
      </p:pic>
      <p:pic>
        <p:nvPicPr>
          <p:cNvPr id="3" name="Picture 2">
            <a:extLst>
              <a:ext uri="{FF2B5EF4-FFF2-40B4-BE49-F238E27FC236}">
                <a16:creationId xmlns:a16="http://schemas.microsoft.com/office/drawing/2014/main" id="{234F5148-BB89-4083-BC77-6EEEADB5A068}"/>
              </a:ext>
            </a:extLst>
          </p:cNvPr>
          <p:cNvPicPr>
            <a:picLocks noChangeAspect="1"/>
          </p:cNvPicPr>
          <p:nvPr/>
        </p:nvPicPr>
        <p:blipFill>
          <a:blip r:embed="rId3"/>
          <a:stretch>
            <a:fillRect/>
          </a:stretch>
        </p:blipFill>
        <p:spPr>
          <a:xfrm>
            <a:off x="6476048" y="811589"/>
            <a:ext cx="5276850" cy="5067300"/>
          </a:xfrm>
          <a:prstGeom prst="rect">
            <a:avLst/>
          </a:prstGeom>
        </p:spPr>
      </p:pic>
    </p:spTree>
    <p:extLst>
      <p:ext uri="{BB962C8B-B14F-4D97-AF65-F5344CB8AC3E}">
        <p14:creationId xmlns:p14="http://schemas.microsoft.com/office/powerpoint/2010/main" val="3933485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B47EC-9598-49DB-8929-35FBB23D8C09}"/>
              </a:ext>
            </a:extLst>
          </p:cNvPr>
          <p:cNvSpPr/>
          <p:nvPr/>
        </p:nvSpPr>
        <p:spPr>
          <a:xfrm>
            <a:off x="295305" y="226814"/>
            <a:ext cx="11287095" cy="584775"/>
          </a:xfrm>
          <a:prstGeom prst="rect">
            <a:avLst/>
          </a:prstGeom>
        </p:spPr>
        <p:txBody>
          <a:bodyPr wrap="square">
            <a:spAutoFit/>
          </a:bodyPr>
          <a:lstStyle/>
          <a:p>
            <a:r>
              <a:rPr lang="en-US" sz="3200" b="1" dirty="0"/>
              <a:t>   Iteration-4</a:t>
            </a:r>
            <a:endParaRPr lang="en-IN" sz="3200" b="1" dirty="0"/>
          </a:p>
        </p:txBody>
      </p:sp>
      <p:cxnSp>
        <p:nvCxnSpPr>
          <p:cNvPr id="6" name="Straight Connector 5">
            <a:extLst>
              <a:ext uri="{FF2B5EF4-FFF2-40B4-BE49-F238E27FC236}">
                <a16:creationId xmlns:a16="http://schemas.microsoft.com/office/drawing/2014/main" id="{06E555F7-BF92-4896-841D-EF54E3BE7FDB}"/>
              </a:ext>
            </a:extLst>
          </p:cNvPr>
          <p:cNvCxnSpPr>
            <a:cxnSpLocks/>
          </p:cNvCxnSpPr>
          <p:nvPr/>
        </p:nvCxnSpPr>
        <p:spPr>
          <a:xfrm>
            <a:off x="6096000" y="335280"/>
            <a:ext cx="0" cy="640080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24AFA6FC-AD8E-4BAD-BEFD-3FF455C6EBDC}"/>
              </a:ext>
            </a:extLst>
          </p:cNvPr>
          <p:cNvPicPr>
            <a:picLocks noChangeAspect="1"/>
          </p:cNvPicPr>
          <p:nvPr/>
        </p:nvPicPr>
        <p:blipFill>
          <a:blip r:embed="rId2"/>
          <a:stretch>
            <a:fillRect/>
          </a:stretch>
        </p:blipFill>
        <p:spPr>
          <a:xfrm>
            <a:off x="542940" y="849630"/>
            <a:ext cx="5305425" cy="5886450"/>
          </a:xfrm>
          <a:prstGeom prst="rect">
            <a:avLst/>
          </a:prstGeom>
        </p:spPr>
      </p:pic>
      <p:pic>
        <p:nvPicPr>
          <p:cNvPr id="3" name="Picture 2">
            <a:extLst>
              <a:ext uri="{FF2B5EF4-FFF2-40B4-BE49-F238E27FC236}">
                <a16:creationId xmlns:a16="http://schemas.microsoft.com/office/drawing/2014/main" id="{3EFE704F-65C3-41DA-9C1E-9BA09C14E178}"/>
              </a:ext>
            </a:extLst>
          </p:cNvPr>
          <p:cNvPicPr>
            <a:picLocks noChangeAspect="1"/>
          </p:cNvPicPr>
          <p:nvPr/>
        </p:nvPicPr>
        <p:blipFill>
          <a:blip r:embed="rId3"/>
          <a:stretch>
            <a:fillRect/>
          </a:stretch>
        </p:blipFill>
        <p:spPr>
          <a:xfrm>
            <a:off x="6581775" y="1887884"/>
            <a:ext cx="4819650" cy="3771900"/>
          </a:xfrm>
          <a:prstGeom prst="rect">
            <a:avLst/>
          </a:prstGeom>
        </p:spPr>
      </p:pic>
    </p:spTree>
    <p:extLst>
      <p:ext uri="{BB962C8B-B14F-4D97-AF65-F5344CB8AC3E}">
        <p14:creationId xmlns:p14="http://schemas.microsoft.com/office/powerpoint/2010/main" val="266783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B47EC-9598-49DB-8929-35FBB23D8C09}"/>
              </a:ext>
            </a:extLst>
          </p:cNvPr>
          <p:cNvSpPr/>
          <p:nvPr/>
        </p:nvSpPr>
        <p:spPr>
          <a:xfrm>
            <a:off x="295305" y="226814"/>
            <a:ext cx="11287095" cy="584775"/>
          </a:xfrm>
          <a:prstGeom prst="rect">
            <a:avLst/>
          </a:prstGeom>
        </p:spPr>
        <p:txBody>
          <a:bodyPr wrap="square">
            <a:spAutoFit/>
          </a:bodyPr>
          <a:lstStyle/>
          <a:p>
            <a:r>
              <a:rPr lang="en-US" sz="3200" b="1" dirty="0"/>
              <a:t>   Iteration-5</a:t>
            </a:r>
            <a:endParaRPr lang="en-IN" sz="3200" b="1" dirty="0"/>
          </a:p>
        </p:txBody>
      </p:sp>
      <p:cxnSp>
        <p:nvCxnSpPr>
          <p:cNvPr id="6" name="Straight Connector 5">
            <a:extLst>
              <a:ext uri="{FF2B5EF4-FFF2-40B4-BE49-F238E27FC236}">
                <a16:creationId xmlns:a16="http://schemas.microsoft.com/office/drawing/2014/main" id="{06E555F7-BF92-4896-841D-EF54E3BE7FDB}"/>
              </a:ext>
            </a:extLst>
          </p:cNvPr>
          <p:cNvCxnSpPr>
            <a:cxnSpLocks/>
          </p:cNvCxnSpPr>
          <p:nvPr/>
        </p:nvCxnSpPr>
        <p:spPr>
          <a:xfrm>
            <a:off x="6096000" y="335280"/>
            <a:ext cx="0" cy="640080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C393014-96AB-46CC-BFB5-58454485CDAE}"/>
              </a:ext>
            </a:extLst>
          </p:cNvPr>
          <p:cNvPicPr>
            <a:picLocks noChangeAspect="1"/>
          </p:cNvPicPr>
          <p:nvPr/>
        </p:nvPicPr>
        <p:blipFill>
          <a:blip r:embed="rId2"/>
          <a:stretch>
            <a:fillRect/>
          </a:stretch>
        </p:blipFill>
        <p:spPr>
          <a:xfrm>
            <a:off x="475932" y="876300"/>
            <a:ext cx="5286375" cy="5981700"/>
          </a:xfrm>
          <a:prstGeom prst="rect">
            <a:avLst/>
          </a:prstGeom>
        </p:spPr>
      </p:pic>
      <p:pic>
        <p:nvPicPr>
          <p:cNvPr id="3" name="Picture 2">
            <a:extLst>
              <a:ext uri="{FF2B5EF4-FFF2-40B4-BE49-F238E27FC236}">
                <a16:creationId xmlns:a16="http://schemas.microsoft.com/office/drawing/2014/main" id="{C6BAFBFA-0ACC-4AD0-83A6-6738B26B6370}"/>
              </a:ext>
            </a:extLst>
          </p:cNvPr>
          <p:cNvPicPr>
            <a:picLocks noChangeAspect="1"/>
          </p:cNvPicPr>
          <p:nvPr/>
        </p:nvPicPr>
        <p:blipFill>
          <a:blip r:embed="rId3"/>
          <a:stretch>
            <a:fillRect/>
          </a:stretch>
        </p:blipFill>
        <p:spPr>
          <a:xfrm>
            <a:off x="6429694" y="1625917"/>
            <a:ext cx="5019675" cy="3819525"/>
          </a:xfrm>
          <a:prstGeom prst="rect">
            <a:avLst/>
          </a:prstGeom>
        </p:spPr>
      </p:pic>
    </p:spTree>
    <p:extLst>
      <p:ext uri="{BB962C8B-B14F-4D97-AF65-F5344CB8AC3E}">
        <p14:creationId xmlns:p14="http://schemas.microsoft.com/office/powerpoint/2010/main" val="3241833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B47EC-9598-49DB-8929-35FBB23D8C09}"/>
              </a:ext>
            </a:extLst>
          </p:cNvPr>
          <p:cNvSpPr/>
          <p:nvPr/>
        </p:nvSpPr>
        <p:spPr>
          <a:xfrm>
            <a:off x="295305" y="226814"/>
            <a:ext cx="11287095" cy="584775"/>
          </a:xfrm>
          <a:prstGeom prst="rect">
            <a:avLst/>
          </a:prstGeom>
        </p:spPr>
        <p:txBody>
          <a:bodyPr wrap="square">
            <a:spAutoFit/>
          </a:bodyPr>
          <a:lstStyle/>
          <a:p>
            <a:r>
              <a:rPr lang="en-US" sz="3200" b="1" dirty="0"/>
              <a:t>   Iteration-6</a:t>
            </a:r>
            <a:endParaRPr lang="en-IN" sz="3200" b="1" dirty="0"/>
          </a:p>
        </p:txBody>
      </p:sp>
      <p:cxnSp>
        <p:nvCxnSpPr>
          <p:cNvPr id="6" name="Straight Connector 5">
            <a:extLst>
              <a:ext uri="{FF2B5EF4-FFF2-40B4-BE49-F238E27FC236}">
                <a16:creationId xmlns:a16="http://schemas.microsoft.com/office/drawing/2014/main" id="{06E555F7-BF92-4896-841D-EF54E3BE7FDB}"/>
              </a:ext>
            </a:extLst>
          </p:cNvPr>
          <p:cNvCxnSpPr>
            <a:cxnSpLocks/>
          </p:cNvCxnSpPr>
          <p:nvPr/>
        </p:nvCxnSpPr>
        <p:spPr>
          <a:xfrm>
            <a:off x="6096000" y="335280"/>
            <a:ext cx="0" cy="640080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5C9E231C-54C0-4F95-AB58-CDD98A31D1D5}"/>
              </a:ext>
            </a:extLst>
          </p:cNvPr>
          <p:cNvPicPr>
            <a:picLocks noChangeAspect="1"/>
          </p:cNvPicPr>
          <p:nvPr/>
        </p:nvPicPr>
        <p:blipFill>
          <a:blip r:embed="rId2"/>
          <a:stretch>
            <a:fillRect/>
          </a:stretch>
        </p:blipFill>
        <p:spPr>
          <a:xfrm>
            <a:off x="609601" y="885825"/>
            <a:ext cx="5438775" cy="5972175"/>
          </a:xfrm>
          <a:prstGeom prst="rect">
            <a:avLst/>
          </a:prstGeom>
        </p:spPr>
      </p:pic>
      <p:pic>
        <p:nvPicPr>
          <p:cNvPr id="3" name="Picture 2">
            <a:extLst>
              <a:ext uri="{FF2B5EF4-FFF2-40B4-BE49-F238E27FC236}">
                <a16:creationId xmlns:a16="http://schemas.microsoft.com/office/drawing/2014/main" id="{0D0A09E4-B553-4A00-B8FB-6D9FF6C75CA9}"/>
              </a:ext>
            </a:extLst>
          </p:cNvPr>
          <p:cNvPicPr>
            <a:picLocks noChangeAspect="1"/>
          </p:cNvPicPr>
          <p:nvPr/>
        </p:nvPicPr>
        <p:blipFill>
          <a:blip r:embed="rId3"/>
          <a:stretch>
            <a:fillRect/>
          </a:stretch>
        </p:blipFill>
        <p:spPr>
          <a:xfrm>
            <a:off x="6415088" y="1868834"/>
            <a:ext cx="4848225" cy="3810000"/>
          </a:xfrm>
          <a:prstGeom prst="rect">
            <a:avLst/>
          </a:prstGeom>
        </p:spPr>
      </p:pic>
    </p:spTree>
    <p:extLst>
      <p:ext uri="{BB962C8B-B14F-4D97-AF65-F5344CB8AC3E}">
        <p14:creationId xmlns:p14="http://schemas.microsoft.com/office/powerpoint/2010/main" val="3058127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28B3F1-87CF-4F91-BDDA-8CB74B773970}"/>
              </a:ext>
            </a:extLst>
          </p:cNvPr>
          <p:cNvPicPr>
            <a:picLocks noChangeAspect="1"/>
          </p:cNvPicPr>
          <p:nvPr/>
        </p:nvPicPr>
        <p:blipFill>
          <a:blip r:embed="rId2"/>
          <a:stretch>
            <a:fillRect/>
          </a:stretch>
        </p:blipFill>
        <p:spPr>
          <a:xfrm>
            <a:off x="1788159" y="866487"/>
            <a:ext cx="7769129" cy="4406553"/>
          </a:xfrm>
          <a:prstGeom prst="rect">
            <a:avLst/>
          </a:prstGeom>
        </p:spPr>
      </p:pic>
    </p:spTree>
    <p:extLst>
      <p:ext uri="{BB962C8B-B14F-4D97-AF65-F5344CB8AC3E}">
        <p14:creationId xmlns:p14="http://schemas.microsoft.com/office/powerpoint/2010/main" val="2469813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C9CA6-31D8-4F8D-ACB1-84AD1CB37096}"/>
              </a:ext>
            </a:extLst>
          </p:cNvPr>
          <p:cNvSpPr>
            <a:spLocks noGrp="1"/>
          </p:cNvSpPr>
          <p:nvPr>
            <p:ph type="ctrTitle"/>
          </p:nvPr>
        </p:nvSpPr>
        <p:spPr>
          <a:xfrm>
            <a:off x="508000" y="299403"/>
            <a:ext cx="9997440" cy="482917"/>
          </a:xfrm>
        </p:spPr>
        <p:txBody>
          <a:bodyPr>
            <a:normAutofit fontScale="90000"/>
          </a:bodyPr>
          <a:lstStyle/>
          <a:p>
            <a:pPr algn="l"/>
            <a:r>
              <a:rPr lang="en-US" sz="3200" b="1" dirty="0"/>
              <a:t>Exercise-2: Logistic regression with Stochastic Gradient Descent</a:t>
            </a:r>
            <a:endParaRPr lang="en-IN" sz="3200" b="1" dirty="0"/>
          </a:p>
        </p:txBody>
      </p:sp>
      <p:pic>
        <p:nvPicPr>
          <p:cNvPr id="7" name="Picture 6">
            <a:extLst>
              <a:ext uri="{FF2B5EF4-FFF2-40B4-BE49-F238E27FC236}">
                <a16:creationId xmlns:a16="http://schemas.microsoft.com/office/drawing/2014/main" id="{D1F3F30B-149F-43CF-AFF6-02913159F306}"/>
              </a:ext>
            </a:extLst>
          </p:cNvPr>
          <p:cNvPicPr>
            <a:picLocks noChangeAspect="1"/>
          </p:cNvPicPr>
          <p:nvPr/>
        </p:nvPicPr>
        <p:blipFill>
          <a:blip r:embed="rId2"/>
          <a:stretch>
            <a:fillRect/>
          </a:stretch>
        </p:blipFill>
        <p:spPr>
          <a:xfrm>
            <a:off x="508000" y="1323975"/>
            <a:ext cx="7667625" cy="4210050"/>
          </a:xfrm>
          <a:prstGeom prst="rect">
            <a:avLst/>
          </a:prstGeom>
        </p:spPr>
      </p:pic>
      <p:sp>
        <p:nvSpPr>
          <p:cNvPr id="9" name="Rectangle 8">
            <a:extLst>
              <a:ext uri="{FF2B5EF4-FFF2-40B4-BE49-F238E27FC236}">
                <a16:creationId xmlns:a16="http://schemas.microsoft.com/office/drawing/2014/main" id="{87814B94-889F-4261-A168-79AB8FA66BBB}"/>
              </a:ext>
            </a:extLst>
          </p:cNvPr>
          <p:cNvSpPr/>
          <p:nvPr/>
        </p:nvSpPr>
        <p:spPr>
          <a:xfrm>
            <a:off x="8483600" y="1480235"/>
            <a:ext cx="3088640" cy="1200329"/>
          </a:xfrm>
          <a:prstGeom prst="rect">
            <a:avLst/>
          </a:prstGeom>
        </p:spPr>
        <p:txBody>
          <a:bodyPr wrap="square">
            <a:spAutoFit/>
          </a:bodyPr>
          <a:lstStyle/>
          <a:p>
            <a:r>
              <a:rPr lang="en-US" dirty="0"/>
              <a:t>This is a binary classification problem, so we use Logistic Regression with SGD (Stochastic Gradient Descent).</a:t>
            </a:r>
            <a:endParaRPr lang="en-IN" dirty="0"/>
          </a:p>
        </p:txBody>
      </p:sp>
    </p:spTree>
    <p:extLst>
      <p:ext uri="{BB962C8B-B14F-4D97-AF65-F5344CB8AC3E}">
        <p14:creationId xmlns:p14="http://schemas.microsoft.com/office/powerpoint/2010/main" val="1255191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7814B94-889F-4261-A168-79AB8FA66BBB}"/>
              </a:ext>
            </a:extLst>
          </p:cNvPr>
          <p:cNvSpPr/>
          <p:nvPr/>
        </p:nvSpPr>
        <p:spPr>
          <a:xfrm>
            <a:off x="508000" y="1155115"/>
            <a:ext cx="3088640" cy="369332"/>
          </a:xfrm>
          <a:prstGeom prst="rect">
            <a:avLst/>
          </a:prstGeom>
        </p:spPr>
        <p:txBody>
          <a:bodyPr wrap="square">
            <a:spAutoFit/>
          </a:bodyPr>
          <a:lstStyle/>
          <a:p>
            <a:r>
              <a:rPr lang="en-US" dirty="0"/>
              <a:t>aa</a:t>
            </a:r>
            <a:endParaRPr lang="en-IN" dirty="0"/>
          </a:p>
        </p:txBody>
      </p:sp>
      <p:sp>
        <p:nvSpPr>
          <p:cNvPr id="6" name="Rectangle 5">
            <a:extLst>
              <a:ext uri="{FF2B5EF4-FFF2-40B4-BE49-F238E27FC236}">
                <a16:creationId xmlns:a16="http://schemas.microsoft.com/office/drawing/2014/main" id="{426AECA4-E719-4EEC-8FA7-D14788FDEA12}"/>
              </a:ext>
            </a:extLst>
          </p:cNvPr>
          <p:cNvSpPr/>
          <p:nvPr/>
        </p:nvSpPr>
        <p:spPr>
          <a:xfrm>
            <a:off x="351075" y="430014"/>
            <a:ext cx="4032964" cy="523220"/>
          </a:xfrm>
          <a:prstGeom prst="rect">
            <a:avLst/>
          </a:prstGeom>
        </p:spPr>
        <p:txBody>
          <a:bodyPr wrap="none">
            <a:spAutoFit/>
          </a:bodyPr>
          <a:lstStyle/>
          <a:p>
            <a:r>
              <a:rPr lang="en-IN" sz="2800" b="1" dirty="0"/>
              <a:t>Logistic Regression Model</a:t>
            </a:r>
          </a:p>
        </p:txBody>
      </p:sp>
      <p:pic>
        <p:nvPicPr>
          <p:cNvPr id="8" name="Picture 7">
            <a:extLst>
              <a:ext uri="{FF2B5EF4-FFF2-40B4-BE49-F238E27FC236}">
                <a16:creationId xmlns:a16="http://schemas.microsoft.com/office/drawing/2014/main" id="{C2486444-3EF4-4C07-BDF7-F73E6EE6EEE5}"/>
              </a:ext>
            </a:extLst>
          </p:cNvPr>
          <p:cNvPicPr>
            <a:picLocks noChangeAspect="1"/>
          </p:cNvPicPr>
          <p:nvPr/>
        </p:nvPicPr>
        <p:blipFill>
          <a:blip r:embed="rId2"/>
          <a:stretch>
            <a:fillRect/>
          </a:stretch>
        </p:blipFill>
        <p:spPr>
          <a:xfrm>
            <a:off x="351075" y="1083310"/>
            <a:ext cx="4657725" cy="3695700"/>
          </a:xfrm>
          <a:prstGeom prst="rect">
            <a:avLst/>
          </a:prstGeom>
        </p:spPr>
      </p:pic>
      <p:sp>
        <p:nvSpPr>
          <p:cNvPr id="11" name="Rectangle 10">
            <a:extLst>
              <a:ext uri="{FF2B5EF4-FFF2-40B4-BE49-F238E27FC236}">
                <a16:creationId xmlns:a16="http://schemas.microsoft.com/office/drawing/2014/main" id="{E870B575-852E-460E-912E-B30D61F69AF2}"/>
              </a:ext>
            </a:extLst>
          </p:cNvPr>
          <p:cNvSpPr/>
          <p:nvPr/>
        </p:nvSpPr>
        <p:spPr>
          <a:xfrm>
            <a:off x="7807963" y="506958"/>
            <a:ext cx="3059235" cy="461665"/>
          </a:xfrm>
          <a:prstGeom prst="rect">
            <a:avLst/>
          </a:prstGeom>
        </p:spPr>
        <p:txBody>
          <a:bodyPr wrap="none">
            <a:spAutoFit/>
          </a:bodyPr>
          <a:lstStyle/>
          <a:p>
            <a:r>
              <a:rPr lang="en-IN" sz="2400" b="1" dirty="0"/>
              <a:t>SGD Update Equations</a:t>
            </a:r>
          </a:p>
        </p:txBody>
      </p:sp>
      <p:pic>
        <p:nvPicPr>
          <p:cNvPr id="13" name="Picture 12">
            <a:extLst>
              <a:ext uri="{FF2B5EF4-FFF2-40B4-BE49-F238E27FC236}">
                <a16:creationId xmlns:a16="http://schemas.microsoft.com/office/drawing/2014/main" id="{DEDC30BB-03B7-4265-939C-C3979F897429}"/>
              </a:ext>
            </a:extLst>
          </p:cNvPr>
          <p:cNvPicPr>
            <a:picLocks noChangeAspect="1"/>
          </p:cNvPicPr>
          <p:nvPr/>
        </p:nvPicPr>
        <p:blipFill>
          <a:blip r:embed="rId3"/>
          <a:stretch>
            <a:fillRect/>
          </a:stretch>
        </p:blipFill>
        <p:spPr>
          <a:xfrm>
            <a:off x="7101840" y="1083310"/>
            <a:ext cx="4277360" cy="5426901"/>
          </a:xfrm>
          <a:prstGeom prst="rect">
            <a:avLst/>
          </a:prstGeom>
        </p:spPr>
      </p:pic>
      <p:sp>
        <p:nvSpPr>
          <p:cNvPr id="14" name="Rectangle 13">
            <a:extLst>
              <a:ext uri="{FF2B5EF4-FFF2-40B4-BE49-F238E27FC236}">
                <a16:creationId xmlns:a16="http://schemas.microsoft.com/office/drawing/2014/main" id="{113D5C82-5971-4814-9964-26071AACD431}"/>
              </a:ext>
            </a:extLst>
          </p:cNvPr>
          <p:cNvSpPr/>
          <p:nvPr/>
        </p:nvSpPr>
        <p:spPr>
          <a:xfrm>
            <a:off x="341192" y="5266858"/>
            <a:ext cx="6035040" cy="1015663"/>
          </a:xfrm>
          <a:prstGeom prst="rect">
            <a:avLst/>
          </a:prstGeom>
        </p:spPr>
        <p:txBody>
          <a:bodyPr wrap="square">
            <a:spAutoFit/>
          </a:bodyPr>
          <a:lstStyle/>
          <a:p>
            <a:r>
              <a:rPr lang="en-US" sz="2000" b="1" dirty="0"/>
              <a:t>Initially assume: </a:t>
            </a:r>
          </a:p>
          <a:p>
            <a:endParaRPr lang="en-US" sz="2000" b="1" dirty="0"/>
          </a:p>
          <a:p>
            <a:r>
              <a:rPr lang="en-US" sz="2000" b="1" dirty="0"/>
              <a:t>a0 = 0 , a1 = 0, alpha = 0.1  </a:t>
            </a:r>
            <a:endParaRPr lang="en-IN" dirty="0"/>
          </a:p>
        </p:txBody>
      </p:sp>
    </p:spTree>
    <p:extLst>
      <p:ext uri="{BB962C8B-B14F-4D97-AF65-F5344CB8AC3E}">
        <p14:creationId xmlns:p14="http://schemas.microsoft.com/office/powerpoint/2010/main" val="51473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B47EC-9598-49DB-8929-35FBB23D8C09}"/>
              </a:ext>
            </a:extLst>
          </p:cNvPr>
          <p:cNvSpPr/>
          <p:nvPr/>
        </p:nvSpPr>
        <p:spPr>
          <a:xfrm>
            <a:off x="295305" y="226814"/>
            <a:ext cx="11287095" cy="584775"/>
          </a:xfrm>
          <a:prstGeom prst="rect">
            <a:avLst/>
          </a:prstGeom>
        </p:spPr>
        <p:txBody>
          <a:bodyPr wrap="square">
            <a:spAutoFit/>
          </a:bodyPr>
          <a:lstStyle/>
          <a:p>
            <a:r>
              <a:rPr lang="en-US" sz="3200" b="1" dirty="0"/>
              <a:t>   Iteration-1</a:t>
            </a:r>
            <a:endParaRPr lang="en-IN" sz="3200" b="1" dirty="0"/>
          </a:p>
        </p:txBody>
      </p:sp>
      <p:cxnSp>
        <p:nvCxnSpPr>
          <p:cNvPr id="6" name="Straight Connector 5">
            <a:extLst>
              <a:ext uri="{FF2B5EF4-FFF2-40B4-BE49-F238E27FC236}">
                <a16:creationId xmlns:a16="http://schemas.microsoft.com/office/drawing/2014/main" id="{06E555F7-BF92-4896-841D-EF54E3BE7FDB}"/>
              </a:ext>
            </a:extLst>
          </p:cNvPr>
          <p:cNvCxnSpPr>
            <a:cxnSpLocks/>
          </p:cNvCxnSpPr>
          <p:nvPr/>
        </p:nvCxnSpPr>
        <p:spPr>
          <a:xfrm>
            <a:off x="6096000" y="335280"/>
            <a:ext cx="0" cy="640080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F46E3239-BC89-4817-91CF-25B11CAA96B6}"/>
              </a:ext>
            </a:extLst>
          </p:cNvPr>
          <p:cNvPicPr>
            <a:picLocks noChangeAspect="1"/>
          </p:cNvPicPr>
          <p:nvPr/>
        </p:nvPicPr>
        <p:blipFill>
          <a:blip r:embed="rId2"/>
          <a:stretch>
            <a:fillRect/>
          </a:stretch>
        </p:blipFill>
        <p:spPr>
          <a:xfrm>
            <a:off x="609601" y="988218"/>
            <a:ext cx="3656392" cy="5571232"/>
          </a:xfrm>
          <a:prstGeom prst="rect">
            <a:avLst/>
          </a:prstGeom>
        </p:spPr>
      </p:pic>
      <p:pic>
        <p:nvPicPr>
          <p:cNvPr id="7" name="Picture 6">
            <a:extLst>
              <a:ext uri="{FF2B5EF4-FFF2-40B4-BE49-F238E27FC236}">
                <a16:creationId xmlns:a16="http://schemas.microsoft.com/office/drawing/2014/main" id="{1F148C43-EBB6-4893-9436-B9C8CDDEF7E6}"/>
              </a:ext>
            </a:extLst>
          </p:cNvPr>
          <p:cNvPicPr>
            <a:picLocks noChangeAspect="1"/>
          </p:cNvPicPr>
          <p:nvPr/>
        </p:nvPicPr>
        <p:blipFill>
          <a:blip r:embed="rId3"/>
          <a:stretch>
            <a:fillRect/>
          </a:stretch>
        </p:blipFill>
        <p:spPr>
          <a:xfrm>
            <a:off x="6791642" y="899477"/>
            <a:ext cx="4257675" cy="3209925"/>
          </a:xfrm>
          <a:prstGeom prst="rect">
            <a:avLst/>
          </a:prstGeom>
        </p:spPr>
      </p:pic>
    </p:spTree>
    <p:extLst>
      <p:ext uri="{BB962C8B-B14F-4D97-AF65-F5344CB8AC3E}">
        <p14:creationId xmlns:p14="http://schemas.microsoft.com/office/powerpoint/2010/main" val="368632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B47EC-9598-49DB-8929-35FBB23D8C09}"/>
              </a:ext>
            </a:extLst>
          </p:cNvPr>
          <p:cNvSpPr/>
          <p:nvPr/>
        </p:nvSpPr>
        <p:spPr>
          <a:xfrm>
            <a:off x="295305" y="226814"/>
            <a:ext cx="11287095" cy="584775"/>
          </a:xfrm>
          <a:prstGeom prst="rect">
            <a:avLst/>
          </a:prstGeom>
        </p:spPr>
        <p:txBody>
          <a:bodyPr wrap="square">
            <a:spAutoFit/>
          </a:bodyPr>
          <a:lstStyle/>
          <a:p>
            <a:r>
              <a:rPr lang="en-US" sz="3200" b="1" dirty="0"/>
              <a:t>   Iteration-2</a:t>
            </a:r>
            <a:endParaRPr lang="en-IN" sz="3200" b="1" dirty="0"/>
          </a:p>
        </p:txBody>
      </p:sp>
      <p:cxnSp>
        <p:nvCxnSpPr>
          <p:cNvPr id="6" name="Straight Connector 5">
            <a:extLst>
              <a:ext uri="{FF2B5EF4-FFF2-40B4-BE49-F238E27FC236}">
                <a16:creationId xmlns:a16="http://schemas.microsoft.com/office/drawing/2014/main" id="{06E555F7-BF92-4896-841D-EF54E3BE7FDB}"/>
              </a:ext>
            </a:extLst>
          </p:cNvPr>
          <p:cNvCxnSpPr>
            <a:cxnSpLocks/>
          </p:cNvCxnSpPr>
          <p:nvPr/>
        </p:nvCxnSpPr>
        <p:spPr>
          <a:xfrm>
            <a:off x="6096000" y="335280"/>
            <a:ext cx="0" cy="640080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E3DB63BF-117D-4041-B9DB-1DED0B308872}"/>
              </a:ext>
            </a:extLst>
          </p:cNvPr>
          <p:cNvPicPr>
            <a:picLocks noChangeAspect="1"/>
          </p:cNvPicPr>
          <p:nvPr/>
        </p:nvPicPr>
        <p:blipFill>
          <a:blip r:embed="rId2"/>
          <a:stretch>
            <a:fillRect/>
          </a:stretch>
        </p:blipFill>
        <p:spPr>
          <a:xfrm>
            <a:off x="609600" y="811589"/>
            <a:ext cx="4114800" cy="5654532"/>
          </a:xfrm>
          <a:prstGeom prst="rect">
            <a:avLst/>
          </a:prstGeom>
        </p:spPr>
      </p:pic>
      <p:pic>
        <p:nvPicPr>
          <p:cNvPr id="3" name="Picture 2">
            <a:extLst>
              <a:ext uri="{FF2B5EF4-FFF2-40B4-BE49-F238E27FC236}">
                <a16:creationId xmlns:a16="http://schemas.microsoft.com/office/drawing/2014/main" id="{D8CC5D22-183C-42C6-B6B3-C7EFE9443D0B}"/>
              </a:ext>
            </a:extLst>
          </p:cNvPr>
          <p:cNvPicPr>
            <a:picLocks noChangeAspect="1"/>
          </p:cNvPicPr>
          <p:nvPr/>
        </p:nvPicPr>
        <p:blipFill>
          <a:blip r:embed="rId3"/>
          <a:stretch>
            <a:fillRect/>
          </a:stretch>
        </p:blipFill>
        <p:spPr>
          <a:xfrm>
            <a:off x="6722427" y="1921222"/>
            <a:ext cx="4619625" cy="3705225"/>
          </a:xfrm>
          <a:prstGeom prst="rect">
            <a:avLst/>
          </a:prstGeom>
        </p:spPr>
      </p:pic>
    </p:spTree>
    <p:extLst>
      <p:ext uri="{BB962C8B-B14F-4D97-AF65-F5344CB8AC3E}">
        <p14:creationId xmlns:p14="http://schemas.microsoft.com/office/powerpoint/2010/main" val="1096375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B47EC-9598-49DB-8929-35FBB23D8C09}"/>
              </a:ext>
            </a:extLst>
          </p:cNvPr>
          <p:cNvSpPr/>
          <p:nvPr/>
        </p:nvSpPr>
        <p:spPr>
          <a:xfrm>
            <a:off x="295305" y="226814"/>
            <a:ext cx="11287095" cy="584775"/>
          </a:xfrm>
          <a:prstGeom prst="rect">
            <a:avLst/>
          </a:prstGeom>
        </p:spPr>
        <p:txBody>
          <a:bodyPr wrap="square">
            <a:spAutoFit/>
          </a:bodyPr>
          <a:lstStyle/>
          <a:p>
            <a:r>
              <a:rPr lang="en-US" sz="3200" b="1" dirty="0"/>
              <a:t>   Iteration-3</a:t>
            </a:r>
            <a:endParaRPr lang="en-IN" sz="3200" b="1" dirty="0"/>
          </a:p>
        </p:txBody>
      </p:sp>
      <p:cxnSp>
        <p:nvCxnSpPr>
          <p:cNvPr id="6" name="Straight Connector 5">
            <a:extLst>
              <a:ext uri="{FF2B5EF4-FFF2-40B4-BE49-F238E27FC236}">
                <a16:creationId xmlns:a16="http://schemas.microsoft.com/office/drawing/2014/main" id="{06E555F7-BF92-4896-841D-EF54E3BE7FDB}"/>
              </a:ext>
            </a:extLst>
          </p:cNvPr>
          <p:cNvCxnSpPr>
            <a:cxnSpLocks/>
          </p:cNvCxnSpPr>
          <p:nvPr/>
        </p:nvCxnSpPr>
        <p:spPr>
          <a:xfrm>
            <a:off x="6096000" y="335280"/>
            <a:ext cx="0" cy="640080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4457A03E-A40C-4D5D-939F-9A74E0C7818C}"/>
              </a:ext>
            </a:extLst>
          </p:cNvPr>
          <p:cNvPicPr>
            <a:picLocks noChangeAspect="1"/>
          </p:cNvPicPr>
          <p:nvPr/>
        </p:nvPicPr>
        <p:blipFill>
          <a:blip r:embed="rId2"/>
          <a:stretch>
            <a:fillRect/>
          </a:stretch>
        </p:blipFill>
        <p:spPr>
          <a:xfrm>
            <a:off x="609601" y="1325909"/>
            <a:ext cx="4219575" cy="4895850"/>
          </a:xfrm>
          <a:prstGeom prst="rect">
            <a:avLst/>
          </a:prstGeom>
        </p:spPr>
      </p:pic>
      <p:pic>
        <p:nvPicPr>
          <p:cNvPr id="3" name="Picture 2">
            <a:extLst>
              <a:ext uri="{FF2B5EF4-FFF2-40B4-BE49-F238E27FC236}">
                <a16:creationId xmlns:a16="http://schemas.microsoft.com/office/drawing/2014/main" id="{B0D3DD4D-758D-4CA7-B0DB-C3B2ECBD6DDC}"/>
              </a:ext>
            </a:extLst>
          </p:cNvPr>
          <p:cNvPicPr>
            <a:picLocks noChangeAspect="1"/>
          </p:cNvPicPr>
          <p:nvPr/>
        </p:nvPicPr>
        <p:blipFill>
          <a:blip r:embed="rId3"/>
          <a:stretch>
            <a:fillRect/>
          </a:stretch>
        </p:blipFill>
        <p:spPr>
          <a:xfrm>
            <a:off x="6915467" y="519201"/>
            <a:ext cx="4314825" cy="2476500"/>
          </a:xfrm>
          <a:prstGeom prst="rect">
            <a:avLst/>
          </a:prstGeom>
        </p:spPr>
      </p:pic>
      <p:sp>
        <p:nvSpPr>
          <p:cNvPr id="7" name="Rectangle 6">
            <a:extLst>
              <a:ext uri="{FF2B5EF4-FFF2-40B4-BE49-F238E27FC236}">
                <a16:creationId xmlns:a16="http://schemas.microsoft.com/office/drawing/2014/main" id="{908C0567-3881-4ECE-B313-CE37BC1A06EB}"/>
              </a:ext>
            </a:extLst>
          </p:cNvPr>
          <p:cNvSpPr/>
          <p:nvPr/>
        </p:nvSpPr>
        <p:spPr>
          <a:xfrm>
            <a:off x="7047547" y="3288088"/>
            <a:ext cx="4314820" cy="3416320"/>
          </a:xfrm>
          <a:prstGeom prst="rect">
            <a:avLst/>
          </a:prstGeom>
        </p:spPr>
        <p:txBody>
          <a:bodyPr wrap="square">
            <a:spAutoFit/>
          </a:bodyPr>
          <a:lstStyle/>
          <a:p>
            <a:r>
              <a:rPr lang="en-IN" dirty="0"/>
              <a:t>The exact same procedure continues for:</a:t>
            </a:r>
          </a:p>
          <a:p>
            <a:r>
              <a:rPr lang="en-IN" dirty="0"/>
              <a:t>Iteration 4 → (4,0)</a:t>
            </a:r>
          </a:p>
          <a:p>
            <a:r>
              <a:rPr lang="en-IN" dirty="0"/>
              <a:t>Iteration 5 → (5,1)</a:t>
            </a:r>
          </a:p>
          <a:p>
            <a:r>
              <a:rPr lang="en-IN" dirty="0"/>
              <a:t>Iteration 6 → (6,1)</a:t>
            </a:r>
          </a:p>
          <a:p>
            <a:r>
              <a:rPr lang="en-IN" dirty="0"/>
              <a:t>Iteration 7 → (7,1)</a:t>
            </a:r>
          </a:p>
          <a:p>
            <a:r>
              <a:rPr lang="en-IN" dirty="0"/>
              <a:t>Iteration 8 → (8,1)</a:t>
            </a:r>
          </a:p>
          <a:p>
            <a:endParaRPr lang="en-US" dirty="0"/>
          </a:p>
          <a:p>
            <a:r>
              <a:rPr lang="en-US" dirty="0"/>
              <a:t>T</a:t>
            </a:r>
            <a:r>
              <a:rPr lang="en-IN" dirty="0"/>
              <a:t>his is for one epoch.</a:t>
            </a:r>
          </a:p>
          <a:p>
            <a:endParaRPr lang="en-US" dirty="0"/>
          </a:p>
          <a:p>
            <a:r>
              <a:rPr lang="en-US" dirty="0"/>
              <a:t>S</a:t>
            </a:r>
            <a:r>
              <a:rPr lang="en-IN" dirty="0" err="1"/>
              <a:t>imilarly</a:t>
            </a:r>
            <a:r>
              <a:rPr lang="en-IN" dirty="0"/>
              <a:t> for </a:t>
            </a:r>
            <a:r>
              <a:rPr lang="en-IN" dirty="0" err="1"/>
              <a:t>for</a:t>
            </a:r>
            <a:r>
              <a:rPr lang="en-IN" dirty="0"/>
              <a:t> 3*8 = 24 iterations for 3 epochs.</a:t>
            </a:r>
            <a:endParaRPr lang="en-US" dirty="0"/>
          </a:p>
          <a:p>
            <a:endParaRPr lang="en-IN" dirty="0"/>
          </a:p>
        </p:txBody>
      </p:sp>
    </p:spTree>
    <p:extLst>
      <p:ext uri="{BB962C8B-B14F-4D97-AF65-F5344CB8AC3E}">
        <p14:creationId xmlns:p14="http://schemas.microsoft.com/office/powerpoint/2010/main" val="2215506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B47EC-9598-49DB-8929-35FBB23D8C09}"/>
              </a:ext>
            </a:extLst>
          </p:cNvPr>
          <p:cNvSpPr/>
          <p:nvPr/>
        </p:nvSpPr>
        <p:spPr>
          <a:xfrm>
            <a:off x="295305" y="226814"/>
            <a:ext cx="11287095" cy="1200329"/>
          </a:xfrm>
          <a:prstGeom prst="rect">
            <a:avLst/>
          </a:prstGeom>
        </p:spPr>
        <p:txBody>
          <a:bodyPr wrap="square">
            <a:spAutoFit/>
          </a:bodyPr>
          <a:lstStyle/>
          <a:p>
            <a:r>
              <a:rPr lang="en-US" sz="2400" dirty="0"/>
              <a:t>After 24 iterations, if the final coefficients converge approximately to:</a:t>
            </a:r>
          </a:p>
          <a:p>
            <a:endParaRPr lang="en-US" sz="2400" dirty="0"/>
          </a:p>
          <a:p>
            <a:endParaRPr lang="en-IN" sz="2400" dirty="0"/>
          </a:p>
        </p:txBody>
      </p:sp>
      <p:pic>
        <p:nvPicPr>
          <p:cNvPr id="3" name="Picture 2">
            <a:extLst>
              <a:ext uri="{FF2B5EF4-FFF2-40B4-BE49-F238E27FC236}">
                <a16:creationId xmlns:a16="http://schemas.microsoft.com/office/drawing/2014/main" id="{151C23BC-0B93-4343-9AF7-77439D47E3ED}"/>
              </a:ext>
            </a:extLst>
          </p:cNvPr>
          <p:cNvPicPr>
            <a:picLocks noChangeAspect="1"/>
          </p:cNvPicPr>
          <p:nvPr/>
        </p:nvPicPr>
        <p:blipFill>
          <a:blip r:embed="rId2"/>
          <a:stretch>
            <a:fillRect/>
          </a:stretch>
        </p:blipFill>
        <p:spPr>
          <a:xfrm>
            <a:off x="1484312" y="1213783"/>
            <a:ext cx="5972175" cy="4210050"/>
          </a:xfrm>
          <a:prstGeom prst="rect">
            <a:avLst/>
          </a:prstGeom>
        </p:spPr>
      </p:pic>
    </p:spTree>
    <p:extLst>
      <p:ext uri="{BB962C8B-B14F-4D97-AF65-F5344CB8AC3E}">
        <p14:creationId xmlns:p14="http://schemas.microsoft.com/office/powerpoint/2010/main" val="38243250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06E555F7-BF92-4896-841D-EF54E3BE7FDB}"/>
              </a:ext>
            </a:extLst>
          </p:cNvPr>
          <p:cNvCxnSpPr>
            <a:cxnSpLocks/>
          </p:cNvCxnSpPr>
          <p:nvPr/>
        </p:nvCxnSpPr>
        <p:spPr>
          <a:xfrm>
            <a:off x="6096000" y="335280"/>
            <a:ext cx="0" cy="640080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3333847E-DD0F-4FAB-A768-EE946A32A4E9}"/>
              </a:ext>
            </a:extLst>
          </p:cNvPr>
          <p:cNvPicPr>
            <a:picLocks noChangeAspect="1"/>
          </p:cNvPicPr>
          <p:nvPr/>
        </p:nvPicPr>
        <p:blipFill>
          <a:blip r:embed="rId2"/>
          <a:stretch>
            <a:fillRect/>
          </a:stretch>
        </p:blipFill>
        <p:spPr>
          <a:xfrm>
            <a:off x="428307" y="400050"/>
            <a:ext cx="5381625" cy="6057900"/>
          </a:xfrm>
          <a:prstGeom prst="rect">
            <a:avLst/>
          </a:prstGeom>
        </p:spPr>
      </p:pic>
      <p:pic>
        <p:nvPicPr>
          <p:cNvPr id="3" name="Picture 2">
            <a:extLst>
              <a:ext uri="{FF2B5EF4-FFF2-40B4-BE49-F238E27FC236}">
                <a16:creationId xmlns:a16="http://schemas.microsoft.com/office/drawing/2014/main" id="{EF824B39-4C56-4346-85DB-936651928C66}"/>
              </a:ext>
            </a:extLst>
          </p:cNvPr>
          <p:cNvPicPr>
            <a:picLocks noChangeAspect="1"/>
          </p:cNvPicPr>
          <p:nvPr/>
        </p:nvPicPr>
        <p:blipFill>
          <a:blip r:embed="rId3"/>
          <a:stretch>
            <a:fillRect/>
          </a:stretch>
        </p:blipFill>
        <p:spPr>
          <a:xfrm>
            <a:off x="6382069" y="274320"/>
            <a:ext cx="5486400" cy="6229350"/>
          </a:xfrm>
          <a:prstGeom prst="rect">
            <a:avLst/>
          </a:prstGeom>
        </p:spPr>
      </p:pic>
    </p:spTree>
    <p:extLst>
      <p:ext uri="{BB962C8B-B14F-4D97-AF65-F5344CB8AC3E}">
        <p14:creationId xmlns:p14="http://schemas.microsoft.com/office/powerpoint/2010/main" val="899988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C0C11F-EDD0-48A2-8639-5503824F9BD1}"/>
              </a:ext>
            </a:extLst>
          </p:cNvPr>
          <p:cNvPicPr>
            <a:picLocks noChangeAspect="1"/>
          </p:cNvPicPr>
          <p:nvPr/>
        </p:nvPicPr>
        <p:blipFill>
          <a:blip r:embed="rId2"/>
          <a:stretch>
            <a:fillRect/>
          </a:stretch>
        </p:blipFill>
        <p:spPr>
          <a:xfrm>
            <a:off x="1564641" y="226814"/>
            <a:ext cx="5648960" cy="6404371"/>
          </a:xfrm>
          <a:prstGeom prst="rect">
            <a:avLst/>
          </a:prstGeom>
        </p:spPr>
      </p:pic>
    </p:spTree>
    <p:extLst>
      <p:ext uri="{BB962C8B-B14F-4D97-AF65-F5344CB8AC3E}">
        <p14:creationId xmlns:p14="http://schemas.microsoft.com/office/powerpoint/2010/main" val="4172630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AB1711-34E7-4B0E-8F0C-81A5A0F83924}"/>
              </a:ext>
            </a:extLst>
          </p:cNvPr>
          <p:cNvSpPr/>
          <p:nvPr/>
        </p:nvSpPr>
        <p:spPr>
          <a:xfrm>
            <a:off x="5262880" y="1729422"/>
            <a:ext cx="6096000" cy="2677656"/>
          </a:xfrm>
          <a:prstGeom prst="rect">
            <a:avLst/>
          </a:prstGeom>
        </p:spPr>
        <p:txBody>
          <a:bodyPr>
            <a:spAutoFit/>
          </a:bodyPr>
          <a:lstStyle/>
          <a:p>
            <a:r>
              <a:rPr lang="en-IN" sz="2400" dirty="0"/>
              <a:t>This is not a valid Logistic Regression dataset because the target variable Y contains continuous values: 2,  −14,  1,  −1,  −7,  −8</a:t>
            </a:r>
          </a:p>
          <a:p>
            <a:endParaRPr lang="en-IN" sz="2400" dirty="0"/>
          </a:p>
          <a:p>
            <a:r>
              <a:rPr lang="en-IN" sz="2400" dirty="0"/>
              <a:t>Logistic Regression requires: Y∈{0,1}</a:t>
            </a:r>
          </a:p>
          <a:p>
            <a:endParaRPr lang="en-IN" sz="2400" dirty="0"/>
          </a:p>
          <a:p>
            <a:r>
              <a:rPr lang="en-IN" sz="2400" dirty="0"/>
              <a:t>So we first convert the target into classes.</a:t>
            </a:r>
          </a:p>
        </p:txBody>
      </p:sp>
      <p:sp>
        <p:nvSpPr>
          <p:cNvPr id="5" name="Rectangle 4">
            <a:extLst>
              <a:ext uri="{FF2B5EF4-FFF2-40B4-BE49-F238E27FC236}">
                <a16:creationId xmlns:a16="http://schemas.microsoft.com/office/drawing/2014/main" id="{340E9528-285B-4667-B44D-5575FC793A43}"/>
              </a:ext>
            </a:extLst>
          </p:cNvPr>
          <p:cNvSpPr/>
          <p:nvPr/>
        </p:nvSpPr>
        <p:spPr>
          <a:xfrm>
            <a:off x="436880" y="443915"/>
            <a:ext cx="7772400" cy="461665"/>
          </a:xfrm>
          <a:prstGeom prst="rect">
            <a:avLst/>
          </a:prstGeom>
        </p:spPr>
        <p:txBody>
          <a:bodyPr wrap="square">
            <a:spAutoFit/>
          </a:bodyPr>
          <a:lstStyle/>
          <a:p>
            <a:r>
              <a:rPr lang="en-US" sz="2400" b="1" dirty="0"/>
              <a:t>Exercise-3: Logistic regression on two independent variables</a:t>
            </a:r>
            <a:endParaRPr lang="en-IN" sz="2400" dirty="0"/>
          </a:p>
        </p:txBody>
      </p:sp>
      <p:pic>
        <p:nvPicPr>
          <p:cNvPr id="6" name="Picture 5">
            <a:extLst>
              <a:ext uri="{FF2B5EF4-FFF2-40B4-BE49-F238E27FC236}">
                <a16:creationId xmlns:a16="http://schemas.microsoft.com/office/drawing/2014/main" id="{B4013AD7-FEB0-4F33-ABDC-D921654C646D}"/>
              </a:ext>
            </a:extLst>
          </p:cNvPr>
          <p:cNvPicPr>
            <a:picLocks noChangeAspect="1"/>
          </p:cNvPicPr>
          <p:nvPr/>
        </p:nvPicPr>
        <p:blipFill>
          <a:blip r:embed="rId2"/>
          <a:stretch>
            <a:fillRect/>
          </a:stretch>
        </p:blipFill>
        <p:spPr>
          <a:xfrm>
            <a:off x="436880" y="1729422"/>
            <a:ext cx="2032000" cy="3048000"/>
          </a:xfrm>
          <a:prstGeom prst="rect">
            <a:avLst/>
          </a:prstGeom>
        </p:spPr>
      </p:pic>
    </p:spTree>
    <p:extLst>
      <p:ext uri="{BB962C8B-B14F-4D97-AF65-F5344CB8AC3E}">
        <p14:creationId xmlns:p14="http://schemas.microsoft.com/office/powerpoint/2010/main" val="1630814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83EC23-B0A2-470C-83D2-F156486ED62B}"/>
              </a:ext>
            </a:extLst>
          </p:cNvPr>
          <p:cNvPicPr>
            <a:picLocks noChangeAspect="1"/>
          </p:cNvPicPr>
          <p:nvPr/>
        </p:nvPicPr>
        <p:blipFill>
          <a:blip r:embed="rId2"/>
          <a:stretch>
            <a:fillRect/>
          </a:stretch>
        </p:blipFill>
        <p:spPr>
          <a:xfrm>
            <a:off x="138112" y="201930"/>
            <a:ext cx="5832964" cy="4847590"/>
          </a:xfrm>
          <a:prstGeom prst="rect">
            <a:avLst/>
          </a:prstGeom>
        </p:spPr>
      </p:pic>
      <p:pic>
        <p:nvPicPr>
          <p:cNvPr id="5" name="Picture 4">
            <a:extLst>
              <a:ext uri="{FF2B5EF4-FFF2-40B4-BE49-F238E27FC236}">
                <a16:creationId xmlns:a16="http://schemas.microsoft.com/office/drawing/2014/main" id="{16276FF8-00B9-428B-9346-B3CE320228FF}"/>
              </a:ext>
            </a:extLst>
          </p:cNvPr>
          <p:cNvPicPr>
            <a:picLocks noChangeAspect="1"/>
          </p:cNvPicPr>
          <p:nvPr/>
        </p:nvPicPr>
        <p:blipFill>
          <a:blip r:embed="rId3"/>
          <a:stretch>
            <a:fillRect/>
          </a:stretch>
        </p:blipFill>
        <p:spPr>
          <a:xfrm>
            <a:off x="6220926" y="201930"/>
            <a:ext cx="5667375" cy="5876925"/>
          </a:xfrm>
          <a:prstGeom prst="rect">
            <a:avLst/>
          </a:prstGeom>
        </p:spPr>
      </p:pic>
    </p:spTree>
    <p:extLst>
      <p:ext uri="{BB962C8B-B14F-4D97-AF65-F5344CB8AC3E}">
        <p14:creationId xmlns:p14="http://schemas.microsoft.com/office/powerpoint/2010/main" val="3369039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DE24C0-E9D7-4351-A2C9-63FD5481394F}"/>
              </a:ext>
            </a:extLst>
          </p:cNvPr>
          <p:cNvPicPr>
            <a:picLocks noChangeAspect="1"/>
          </p:cNvPicPr>
          <p:nvPr/>
        </p:nvPicPr>
        <p:blipFill>
          <a:blip r:embed="rId2"/>
          <a:stretch>
            <a:fillRect/>
          </a:stretch>
        </p:blipFill>
        <p:spPr>
          <a:xfrm>
            <a:off x="350519" y="283527"/>
            <a:ext cx="5587629" cy="5639753"/>
          </a:xfrm>
          <a:prstGeom prst="rect">
            <a:avLst/>
          </a:prstGeom>
        </p:spPr>
      </p:pic>
      <p:pic>
        <p:nvPicPr>
          <p:cNvPr id="4" name="Picture 3">
            <a:extLst>
              <a:ext uri="{FF2B5EF4-FFF2-40B4-BE49-F238E27FC236}">
                <a16:creationId xmlns:a16="http://schemas.microsoft.com/office/drawing/2014/main" id="{0F3A8418-C381-4F9A-B215-180B9C8A6B50}"/>
              </a:ext>
            </a:extLst>
          </p:cNvPr>
          <p:cNvPicPr>
            <a:picLocks noChangeAspect="1"/>
          </p:cNvPicPr>
          <p:nvPr/>
        </p:nvPicPr>
        <p:blipFill>
          <a:blip r:embed="rId3"/>
          <a:stretch>
            <a:fillRect/>
          </a:stretch>
        </p:blipFill>
        <p:spPr>
          <a:xfrm>
            <a:off x="6253854" y="129123"/>
            <a:ext cx="4704080" cy="6599754"/>
          </a:xfrm>
          <a:prstGeom prst="rect">
            <a:avLst/>
          </a:prstGeom>
        </p:spPr>
      </p:pic>
    </p:spTree>
    <p:extLst>
      <p:ext uri="{BB962C8B-B14F-4D97-AF65-F5344CB8AC3E}">
        <p14:creationId xmlns:p14="http://schemas.microsoft.com/office/powerpoint/2010/main" val="189161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961BCC-636D-4851-BEC1-7851705865D0}"/>
              </a:ext>
            </a:extLst>
          </p:cNvPr>
          <p:cNvPicPr>
            <a:picLocks noChangeAspect="1"/>
          </p:cNvPicPr>
          <p:nvPr/>
        </p:nvPicPr>
        <p:blipFill>
          <a:blip r:embed="rId2"/>
          <a:stretch>
            <a:fillRect/>
          </a:stretch>
        </p:blipFill>
        <p:spPr>
          <a:xfrm>
            <a:off x="409575" y="538797"/>
            <a:ext cx="5686425" cy="5191125"/>
          </a:xfrm>
          <a:prstGeom prst="rect">
            <a:avLst/>
          </a:prstGeom>
        </p:spPr>
      </p:pic>
      <p:pic>
        <p:nvPicPr>
          <p:cNvPr id="3" name="Picture 2">
            <a:extLst>
              <a:ext uri="{FF2B5EF4-FFF2-40B4-BE49-F238E27FC236}">
                <a16:creationId xmlns:a16="http://schemas.microsoft.com/office/drawing/2014/main" id="{461BD788-37E3-4769-AE3B-294F6E55871B}"/>
              </a:ext>
            </a:extLst>
          </p:cNvPr>
          <p:cNvPicPr>
            <a:picLocks noChangeAspect="1"/>
          </p:cNvPicPr>
          <p:nvPr/>
        </p:nvPicPr>
        <p:blipFill>
          <a:blip r:embed="rId3"/>
          <a:stretch>
            <a:fillRect/>
          </a:stretch>
        </p:blipFill>
        <p:spPr>
          <a:xfrm>
            <a:off x="7138257" y="90437"/>
            <a:ext cx="4281583" cy="6677125"/>
          </a:xfrm>
          <a:prstGeom prst="rect">
            <a:avLst/>
          </a:prstGeom>
        </p:spPr>
      </p:pic>
    </p:spTree>
    <p:extLst>
      <p:ext uri="{BB962C8B-B14F-4D97-AF65-F5344CB8AC3E}">
        <p14:creationId xmlns:p14="http://schemas.microsoft.com/office/powerpoint/2010/main" val="23292437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08DDAE-B6D4-4F16-BE17-5CF46114B8B9}"/>
              </a:ext>
            </a:extLst>
          </p:cNvPr>
          <p:cNvPicPr>
            <a:picLocks noChangeAspect="1"/>
          </p:cNvPicPr>
          <p:nvPr/>
        </p:nvPicPr>
        <p:blipFill>
          <a:blip r:embed="rId2"/>
          <a:stretch>
            <a:fillRect/>
          </a:stretch>
        </p:blipFill>
        <p:spPr>
          <a:xfrm>
            <a:off x="226695" y="140017"/>
            <a:ext cx="5229225" cy="6184049"/>
          </a:xfrm>
          <a:prstGeom prst="rect">
            <a:avLst/>
          </a:prstGeom>
        </p:spPr>
      </p:pic>
      <p:pic>
        <p:nvPicPr>
          <p:cNvPr id="6" name="Picture 5">
            <a:extLst>
              <a:ext uri="{FF2B5EF4-FFF2-40B4-BE49-F238E27FC236}">
                <a16:creationId xmlns:a16="http://schemas.microsoft.com/office/drawing/2014/main" id="{AD1E9D61-D626-440E-AEAA-DC330C6B4DD3}"/>
              </a:ext>
            </a:extLst>
          </p:cNvPr>
          <p:cNvPicPr>
            <a:picLocks noChangeAspect="1"/>
          </p:cNvPicPr>
          <p:nvPr/>
        </p:nvPicPr>
        <p:blipFill>
          <a:blip r:embed="rId3"/>
          <a:stretch>
            <a:fillRect/>
          </a:stretch>
        </p:blipFill>
        <p:spPr>
          <a:xfrm>
            <a:off x="6618605" y="558800"/>
            <a:ext cx="4400550" cy="4505325"/>
          </a:xfrm>
          <a:prstGeom prst="rect">
            <a:avLst/>
          </a:prstGeom>
        </p:spPr>
      </p:pic>
    </p:spTree>
    <p:extLst>
      <p:ext uri="{BB962C8B-B14F-4D97-AF65-F5344CB8AC3E}">
        <p14:creationId xmlns:p14="http://schemas.microsoft.com/office/powerpoint/2010/main" val="23648029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6DCD5B-5C75-4DE0-9C29-0BBAF946BC98}"/>
              </a:ext>
            </a:extLst>
          </p:cNvPr>
          <p:cNvPicPr>
            <a:picLocks noChangeAspect="1"/>
          </p:cNvPicPr>
          <p:nvPr/>
        </p:nvPicPr>
        <p:blipFill>
          <a:blip r:embed="rId2"/>
          <a:stretch>
            <a:fillRect/>
          </a:stretch>
        </p:blipFill>
        <p:spPr>
          <a:xfrm>
            <a:off x="1014412" y="486727"/>
            <a:ext cx="4676775" cy="5153025"/>
          </a:xfrm>
          <a:prstGeom prst="rect">
            <a:avLst/>
          </a:prstGeom>
        </p:spPr>
      </p:pic>
    </p:spTree>
    <p:extLst>
      <p:ext uri="{BB962C8B-B14F-4D97-AF65-F5344CB8AC3E}">
        <p14:creationId xmlns:p14="http://schemas.microsoft.com/office/powerpoint/2010/main" val="40797892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7814B94-889F-4261-A168-79AB8FA66BBB}"/>
              </a:ext>
            </a:extLst>
          </p:cNvPr>
          <p:cNvSpPr/>
          <p:nvPr/>
        </p:nvSpPr>
        <p:spPr>
          <a:xfrm>
            <a:off x="508000" y="1155115"/>
            <a:ext cx="3088640" cy="369332"/>
          </a:xfrm>
          <a:prstGeom prst="rect">
            <a:avLst/>
          </a:prstGeom>
        </p:spPr>
        <p:txBody>
          <a:bodyPr wrap="square">
            <a:spAutoFit/>
          </a:bodyPr>
          <a:lstStyle/>
          <a:p>
            <a:r>
              <a:rPr lang="en-US" dirty="0"/>
              <a:t>aa</a:t>
            </a:r>
            <a:endParaRPr lang="en-IN" dirty="0"/>
          </a:p>
        </p:txBody>
      </p:sp>
      <p:pic>
        <p:nvPicPr>
          <p:cNvPr id="4" name="Picture 3">
            <a:extLst>
              <a:ext uri="{FF2B5EF4-FFF2-40B4-BE49-F238E27FC236}">
                <a16:creationId xmlns:a16="http://schemas.microsoft.com/office/drawing/2014/main" id="{24728281-F092-4ED1-9A34-C1FB51C5EBF6}"/>
              </a:ext>
            </a:extLst>
          </p:cNvPr>
          <p:cNvPicPr>
            <a:picLocks noChangeAspect="1"/>
          </p:cNvPicPr>
          <p:nvPr/>
        </p:nvPicPr>
        <p:blipFill>
          <a:blip r:embed="rId2"/>
          <a:stretch>
            <a:fillRect/>
          </a:stretch>
        </p:blipFill>
        <p:spPr>
          <a:xfrm>
            <a:off x="354015" y="0"/>
            <a:ext cx="5143500" cy="6238875"/>
          </a:xfrm>
          <a:prstGeom prst="rect">
            <a:avLst/>
          </a:prstGeom>
        </p:spPr>
      </p:pic>
      <p:pic>
        <p:nvPicPr>
          <p:cNvPr id="2" name="Picture 1">
            <a:extLst>
              <a:ext uri="{FF2B5EF4-FFF2-40B4-BE49-F238E27FC236}">
                <a16:creationId xmlns:a16="http://schemas.microsoft.com/office/drawing/2014/main" id="{8F79B8D1-D897-4842-B1FE-B9C958DE9278}"/>
              </a:ext>
            </a:extLst>
          </p:cNvPr>
          <p:cNvPicPr>
            <a:picLocks noChangeAspect="1"/>
          </p:cNvPicPr>
          <p:nvPr/>
        </p:nvPicPr>
        <p:blipFill>
          <a:blip r:embed="rId3"/>
          <a:stretch>
            <a:fillRect/>
          </a:stretch>
        </p:blipFill>
        <p:spPr>
          <a:xfrm>
            <a:off x="7159625" y="328612"/>
            <a:ext cx="4524375" cy="2238375"/>
          </a:xfrm>
          <a:prstGeom prst="rect">
            <a:avLst/>
          </a:prstGeom>
        </p:spPr>
      </p:pic>
      <p:pic>
        <p:nvPicPr>
          <p:cNvPr id="6" name="Picture 5">
            <a:extLst>
              <a:ext uri="{FF2B5EF4-FFF2-40B4-BE49-F238E27FC236}">
                <a16:creationId xmlns:a16="http://schemas.microsoft.com/office/drawing/2014/main" id="{58C63DAB-A087-471D-AF15-4B41852152AD}"/>
              </a:ext>
            </a:extLst>
          </p:cNvPr>
          <p:cNvPicPr>
            <a:picLocks noChangeAspect="1"/>
          </p:cNvPicPr>
          <p:nvPr/>
        </p:nvPicPr>
        <p:blipFill>
          <a:blip r:embed="rId4"/>
          <a:stretch>
            <a:fillRect/>
          </a:stretch>
        </p:blipFill>
        <p:spPr>
          <a:xfrm>
            <a:off x="7075169" y="3017794"/>
            <a:ext cx="4933951" cy="3755432"/>
          </a:xfrm>
          <a:prstGeom prst="rect">
            <a:avLst/>
          </a:prstGeom>
        </p:spPr>
      </p:pic>
    </p:spTree>
    <p:extLst>
      <p:ext uri="{BB962C8B-B14F-4D97-AF65-F5344CB8AC3E}">
        <p14:creationId xmlns:p14="http://schemas.microsoft.com/office/powerpoint/2010/main" val="913831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TotalTime>
  <Words>595</Words>
  <Application>Microsoft Office PowerPoint</Application>
  <PresentationFormat>Widescreen</PresentationFormat>
  <Paragraphs>79</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Tahoma</vt:lpstr>
      <vt:lpstr>Times New Roman</vt:lpstr>
      <vt:lpstr>Verdana</vt:lpstr>
      <vt:lpstr>Office Theme</vt:lpstr>
      <vt:lpstr>3.5 Logistic Regression (Textbook 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Exercise-1: Linear regression with Stochastic Gradient Descent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Exercise-2: Logistic regression with Stochastic Gradient Descent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Gradient Descent</dc:title>
  <dc:creator>Venkatesh A Bhandage [MAHE-MIT]</dc:creator>
  <cp:lastModifiedBy>Venkatesh A Bhandage [MAHE-MIT]</cp:lastModifiedBy>
  <cp:revision>15</cp:revision>
  <dcterms:created xsi:type="dcterms:W3CDTF">2026-08-23T14:01:15Z</dcterms:created>
  <dcterms:modified xsi:type="dcterms:W3CDTF">2026-08-23T16:50:26Z</dcterms:modified>
</cp:coreProperties>
</file>