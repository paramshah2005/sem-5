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304" r:id="rId4"/>
    <p:sldId id="274" r:id="rId5"/>
    <p:sldId id="257" r:id="rId6"/>
    <p:sldId id="260" r:id="rId7"/>
    <p:sldId id="258" r:id="rId8"/>
    <p:sldId id="307" r:id="rId9"/>
    <p:sldId id="306" r:id="rId10"/>
    <p:sldId id="272" r:id="rId11"/>
    <p:sldId id="261" r:id="rId12"/>
    <p:sldId id="441" r:id="rId13"/>
    <p:sldId id="280" r:id="rId14"/>
    <p:sldId id="442" r:id="rId15"/>
    <p:sldId id="284" r:id="rId16"/>
    <p:sldId id="277" r:id="rId17"/>
    <p:sldId id="282" r:id="rId18"/>
    <p:sldId id="279" r:id="rId19"/>
    <p:sldId id="289" r:id="rId20"/>
    <p:sldId id="379" r:id="rId21"/>
    <p:sldId id="367" r:id="rId22"/>
    <p:sldId id="368" r:id="rId23"/>
    <p:sldId id="374" r:id="rId24"/>
    <p:sldId id="377" r:id="rId25"/>
    <p:sldId id="381" r:id="rId26"/>
    <p:sldId id="427" r:id="rId27"/>
    <p:sldId id="450" r:id="rId28"/>
    <p:sldId id="429" r:id="rId29"/>
    <p:sldId id="430" r:id="rId30"/>
    <p:sldId id="431" r:id="rId31"/>
    <p:sldId id="433" r:id="rId32"/>
    <p:sldId id="432" r:id="rId33"/>
    <p:sldId id="434" r:id="rId34"/>
    <p:sldId id="449" r:id="rId35"/>
    <p:sldId id="293" r:id="rId36"/>
    <p:sldId id="444" r:id="rId37"/>
    <p:sldId id="378" r:id="rId38"/>
    <p:sldId id="443" r:id="rId39"/>
    <p:sldId id="445" r:id="rId40"/>
    <p:sldId id="309" r:id="rId41"/>
    <p:sldId id="310" r:id="rId42"/>
    <p:sldId id="391" r:id="rId43"/>
    <p:sldId id="421" r:id="rId44"/>
    <p:sldId id="422" r:id="rId45"/>
    <p:sldId id="392" r:id="rId46"/>
    <p:sldId id="412" r:id="rId47"/>
    <p:sldId id="402" r:id="rId48"/>
    <p:sldId id="423" r:id="rId49"/>
    <p:sldId id="413" r:id="rId50"/>
    <p:sldId id="415" r:id="rId51"/>
    <p:sldId id="416" r:id="rId52"/>
    <p:sldId id="417" r:id="rId53"/>
    <p:sldId id="418" r:id="rId54"/>
    <p:sldId id="420" r:id="rId55"/>
    <p:sldId id="419" r:id="rId56"/>
    <p:sldId id="424" r:id="rId57"/>
    <p:sldId id="425" r:id="rId58"/>
    <p:sldId id="426" r:id="rId59"/>
    <p:sldId id="456" r:id="rId60"/>
    <p:sldId id="410" r:id="rId61"/>
    <p:sldId id="408" r:id="rId62"/>
    <p:sldId id="414" r:id="rId63"/>
    <p:sldId id="459" r:id="rId64"/>
    <p:sldId id="437" r:id="rId65"/>
    <p:sldId id="439" r:id="rId66"/>
    <p:sldId id="440" r:id="rId67"/>
    <p:sldId id="451" r:id="rId68"/>
    <p:sldId id="308" r:id="rId69"/>
    <p:sldId id="297" r:id="rId70"/>
    <p:sldId id="298" r:id="rId71"/>
    <p:sldId id="301" r:id="rId72"/>
    <p:sldId id="302" r:id="rId73"/>
    <p:sldId id="303" r:id="rId74"/>
    <p:sldId id="262" r:id="rId75"/>
    <p:sldId id="263" r:id="rId76"/>
    <p:sldId id="264" r:id="rId77"/>
    <p:sldId id="265" r:id="rId78"/>
    <p:sldId id="266" r:id="rId79"/>
    <p:sldId id="270" r:id="rId80"/>
    <p:sldId id="382" r:id="rId81"/>
    <p:sldId id="295" r:id="rId82"/>
    <p:sldId id="267" r:id="rId83"/>
    <p:sldId id="271" r:id="rId84"/>
    <p:sldId id="285" r:id="rId85"/>
    <p:sldId id="384" r:id="rId86"/>
    <p:sldId id="385" r:id="rId87"/>
    <p:sldId id="452" r:id="rId88"/>
    <p:sldId id="386" r:id="rId89"/>
    <p:sldId id="453" r:id="rId90"/>
    <p:sldId id="454" r:id="rId91"/>
    <p:sldId id="288" r:id="rId92"/>
    <p:sldId id="387" r:id="rId93"/>
    <p:sldId id="388" r:id="rId94"/>
    <p:sldId id="389" r:id="rId95"/>
    <p:sldId id="390" r:id="rId96"/>
    <p:sldId id="281" r:id="rId97"/>
    <p:sldId id="290" r:id="rId98"/>
    <p:sldId id="291" r:id="rId99"/>
    <p:sldId id="292" r:id="rId10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C549-185B-4CC5-A2EA-630D1FD7C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D0349-688C-4D0D-90B5-4CFA58051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6DB66-3035-46D4-BE6D-16604AB1F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1EB0-F6A6-4EB5-A685-9FA4E34DD4C3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E6D8D-ED30-47F8-BE1C-A69761713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2E19F-CF07-4B1E-AF3E-E9807C4EF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4CA7-F67F-4E56-803E-1E74B2A87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356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4E837-C234-4B99-9497-A4A390832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D54B2-4AAD-41E1-8FCD-CB7B33B3A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1317B-848B-40F1-A60A-2E0F4CFC8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1EB0-F6A6-4EB5-A685-9FA4E34DD4C3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292B2-1EBA-4741-A940-ABAB06DB5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ED061-412B-4D8C-B7A3-90F2784D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4CA7-F67F-4E56-803E-1E74B2A87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895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3B83A-EF63-4F29-BB57-FDF260DBC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51DEE-20CB-4114-9DF5-70CF07FEE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8DF1D-3B24-4115-81BF-A71A33083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1EB0-F6A6-4EB5-A685-9FA4E34DD4C3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BD2A8-0176-4162-8429-7B5DBA952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7E713-EC50-43B8-8267-058CA491F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4CA7-F67F-4E56-803E-1E74B2A87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694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BD1F0-77D0-46FE-9137-620E8991A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6E49A-6B28-4E22-BDBE-036F7229C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976A2-0910-422F-9708-E7E53568E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F3A00-4C07-41C2-A4A2-87699068A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1EB0-F6A6-4EB5-A685-9FA4E34DD4C3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E542C-03C7-4879-A1A2-571713DB6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4E487-8C4A-4931-9673-EFC635018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4CA7-F67F-4E56-803E-1E74B2A87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41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10342-010D-4ACC-B5A4-78CF3E17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9FD5F-2086-42CB-9054-482FE0846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31446-ECEC-4CD2-A559-5F3E04936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D009D-5AB9-4B7F-9D20-727552B3E0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E39711-F9D9-4B03-8AFE-40C1EB5D4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33E99C-A70E-4776-B0A2-45B48262E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1EB0-F6A6-4EB5-A685-9FA4E34DD4C3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4F960-3BEA-4570-ABA2-984406CF2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2D3B81-4419-4B7B-B78E-36AEAD74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4CA7-F67F-4E56-803E-1E74B2A87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03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150B-4CD6-4A79-90F7-6C8A1346B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74AB06-BEFA-4334-B506-D55CA26B4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1EB0-F6A6-4EB5-A685-9FA4E34DD4C3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7AC2BB-91C7-4386-B534-2969AF5EC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A84D8-550C-45E6-9F2A-E2F73EC35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4CA7-F67F-4E56-803E-1E74B2A87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73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18E51-3F56-4CBA-8E51-20AB48E1F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1EB0-F6A6-4EB5-A685-9FA4E34DD4C3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2A1EA8-D912-4929-9736-2D359F2FE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D8012-9291-4B1F-94D0-138F41955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4CA7-F67F-4E56-803E-1E74B2A87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97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FD303-7E74-4D4D-AF85-44CEB621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F2186-4AEC-4CA2-8245-B78107153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BB1CE-8022-4427-933F-861F5F796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247BA-5318-4BB5-B2A4-2484C791A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1EB0-F6A6-4EB5-A685-9FA4E34DD4C3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D81B9-3061-4418-9BF6-1C39EB942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90DCD-2DE1-4DB3-8B69-12B7434C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4CA7-F67F-4E56-803E-1E74B2A87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226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A849-3CD3-45D6-9B46-80FF5DFA6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F59C79-9F86-406E-BE17-649C0785A3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C6340-D159-4080-B299-B81848937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13760-E19A-44D6-972E-E3DD2BB9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1EB0-F6A6-4EB5-A685-9FA4E34DD4C3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22171-5677-4CD5-8C1A-B46F85A1D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3FA5F-F364-4172-A90C-C2DD7D74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4CA7-F67F-4E56-803E-1E74B2A87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790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577B2-6938-4B42-9F24-B3ED441FD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E70722-B7D4-4850-92AF-701D2DBA4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72F38-3FDD-41CC-9F55-0300FFE5C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1EB0-F6A6-4EB5-A685-9FA4E34DD4C3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912E7-88A4-43B6-9417-2D67F847B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B0673-BBE1-45BB-B3F6-783C3B7F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4CA7-F67F-4E56-803E-1E74B2A87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416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4B6F43-0326-4EFA-AE51-8CB6A565AA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E1969-984F-47BC-AA90-6164BF248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B9755-2170-41CB-A0FF-2120BDFE5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1EB0-F6A6-4EB5-A685-9FA4E34DD4C3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45FD2-64CD-44FF-9BE9-CF142466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89216-F948-48FA-A41B-36EBB9B8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4CA7-F67F-4E56-803E-1E74B2A87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04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587E8B-70F5-4961-A34C-E95B16C0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7206B-0238-4FAC-B7DD-F4B132D23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8DFDA-5069-4EAA-B37D-9F5A2218BF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91EB0-F6A6-4EB5-A685-9FA4E34DD4C3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134BF-FB39-4F25-AEF0-F15C4DF754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6AB86-6A7A-425F-95C2-DA1DA63EE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14CA7-F67F-4E56-803E-1E74B2A87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591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4123D-A4B1-46DA-BBEA-ABB8EC352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L7 </a:t>
            </a:r>
            <a:r>
              <a:rPr lang="en-IN" dirty="0"/>
              <a:t>Logistic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EBB95A-9454-4BCE-A5F1-6DB8C9A9D1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803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7C03C-B724-4C53-BA5B-BE19C7CBA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Regression Vs. Classification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4C78E-DAB4-4C89-AAE5-1B7C596C7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Variables can be characterized as either </a:t>
            </a:r>
            <a:r>
              <a:rPr lang="en-US" dirty="0">
                <a:solidFill>
                  <a:srgbClr val="00B0F0"/>
                </a:solidFill>
              </a:rPr>
              <a:t>quantitative or qualitative </a:t>
            </a:r>
            <a:r>
              <a:rPr lang="en-US" dirty="0"/>
              <a:t>(also known as categorical). </a:t>
            </a:r>
          </a:p>
          <a:p>
            <a:r>
              <a:rPr lang="en-US" dirty="0">
                <a:solidFill>
                  <a:srgbClr val="00B0F0"/>
                </a:solidFill>
              </a:rPr>
              <a:t>Quantitative variables </a:t>
            </a:r>
            <a:r>
              <a:rPr lang="en-US" dirty="0"/>
              <a:t>take on numerical values.</a:t>
            </a:r>
          </a:p>
          <a:p>
            <a:r>
              <a:rPr lang="en-US" dirty="0"/>
              <a:t>Ex: person’s age, height, or income, the value of a house, and the price of a stock.</a:t>
            </a:r>
          </a:p>
          <a:p>
            <a:r>
              <a:rPr lang="en-US" dirty="0">
                <a:solidFill>
                  <a:srgbClr val="00B0F0"/>
                </a:solidFill>
              </a:rPr>
              <a:t>Qualitative variables </a:t>
            </a:r>
            <a:r>
              <a:rPr lang="en-US" dirty="0"/>
              <a:t>take on values in one of K different classes, or categories.</a:t>
            </a:r>
          </a:p>
          <a:p>
            <a:r>
              <a:rPr lang="en-US" dirty="0"/>
              <a:t>Ex: the brand of product purchased (brand A, B, or C), whether a person defaults on a debt (yes or no), or a disease diagnosis.</a:t>
            </a:r>
          </a:p>
          <a:p>
            <a:r>
              <a:rPr lang="en-US" dirty="0"/>
              <a:t> We tend to refer to problems with a </a:t>
            </a:r>
            <a:r>
              <a:rPr lang="en-US" dirty="0">
                <a:solidFill>
                  <a:srgbClr val="00B0F0"/>
                </a:solidFill>
              </a:rPr>
              <a:t>quantitative response as regression problems</a:t>
            </a:r>
            <a:r>
              <a:rPr lang="en-US" dirty="0"/>
              <a:t>, while those involving a </a:t>
            </a:r>
            <a:r>
              <a:rPr lang="en-US" dirty="0">
                <a:solidFill>
                  <a:srgbClr val="00B0F0"/>
                </a:solidFill>
              </a:rPr>
              <a:t>qualitative response are referred to as classification problems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212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248E8-0F7D-4AD4-B5E6-ACE74FE9B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CF655-D7F6-4A04-B571-8EBF68C8A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the answer desired is of Boolean form, 0/1 or yes/no, then use Logistic Regression. </a:t>
            </a:r>
          </a:p>
          <a:p>
            <a:r>
              <a:rPr lang="en-US" dirty="0"/>
              <a:t>Ex: to determine if the given picture is a human or not, we need a yes/no answer</a:t>
            </a:r>
          </a:p>
          <a:p>
            <a:r>
              <a:rPr lang="en-US" dirty="0"/>
              <a:t>Logistic Regression provides a 0 or 1 prediction, rather than a real value for a continuous variable. </a:t>
            </a:r>
          </a:p>
          <a:p>
            <a:r>
              <a:rPr lang="en-US" dirty="0"/>
              <a:t>To that extent, it is a classification technique and not a regression problem</a:t>
            </a:r>
          </a:p>
          <a:p>
            <a:r>
              <a:rPr lang="en-US" dirty="0"/>
              <a:t>Since interest is in predicting a Boolean answer, we need to choose a function which operates within the range 0 to 1.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64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4C46B-4E12-4499-8566-4045C49E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AEE11-A810-4658-9B76-624E9564C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Logistic regression is named for the function used at the core of the method, the logistic function.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logistic function, also called the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sigmoid function </a:t>
            </a:r>
          </a:p>
          <a:p>
            <a:r>
              <a:rPr lang="en-US" dirty="0"/>
              <a:t>It's an S-shaped curve that can take any real-valued number and map it into a value between 0 and 1, but never exactly at those limits.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1651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06E01-BC5C-49B4-B039-16617FE93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/>
          <a:lstStyle/>
          <a:p>
            <a:r>
              <a:rPr lang="en-IN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60645-E554-4635-B1B1-ED9F621F3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874"/>
            <a:ext cx="10515600" cy="530955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The first thing to note is that logistic regression is not a regression, but a </a:t>
            </a:r>
            <a:r>
              <a:rPr lang="en-US" sz="2400" dirty="0">
                <a:solidFill>
                  <a:srgbClr val="00B0F0"/>
                </a:solidFill>
              </a:rPr>
              <a:t>classification learning algorithm</a:t>
            </a:r>
            <a:endParaRPr lang="en-US" sz="2400" dirty="0"/>
          </a:p>
          <a:p>
            <a:r>
              <a:rPr lang="en-US" sz="2400" dirty="0"/>
              <a:t>The name comes from statistics and is due to the fact that the mathematical formulation of logistic regression is similar to that of linear regression</a:t>
            </a:r>
          </a:p>
          <a:p>
            <a:r>
              <a:rPr lang="en-US" sz="2400" dirty="0"/>
              <a:t>standard logistic function (also known as the sigmoid function) is: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e is the base of the natural logarithm also called Euler’s number(e≈2.718) </a:t>
            </a:r>
          </a:p>
          <a:p>
            <a:r>
              <a:rPr lang="en-US" sz="2400" dirty="0"/>
              <a:t>e</a:t>
            </a:r>
            <a:r>
              <a:rPr lang="en-US" sz="2400" baseline="30000" dirty="0"/>
              <a:t>x</a:t>
            </a:r>
            <a:r>
              <a:rPr lang="en-US" sz="2400" dirty="0"/>
              <a:t> is also known as the exp(x) function in programming languages referred as “exponential of x”</a:t>
            </a:r>
          </a:p>
          <a:p>
            <a:r>
              <a:rPr lang="en-US" sz="2400" b="1" i="1" dirty="0"/>
              <a:t>value</a:t>
            </a:r>
            <a:r>
              <a:rPr lang="en-US" sz="2400" dirty="0"/>
              <a:t> is the actual numerical value that we want to transform. </a:t>
            </a:r>
          </a:p>
          <a:p>
            <a:endParaRPr lang="en-US" sz="2400" dirty="0"/>
          </a:p>
          <a:p>
            <a:r>
              <a:rPr lang="en-US" sz="1900" dirty="0"/>
              <a:t>Note: The natural logarithm (ln) and the exponential function e</a:t>
            </a:r>
            <a:r>
              <a:rPr lang="en-US" sz="1900" baseline="30000" dirty="0"/>
              <a:t>x</a:t>
            </a:r>
            <a:r>
              <a:rPr lang="en-US" sz="1900" dirty="0"/>
              <a:t> are inverse operations   </a:t>
            </a:r>
          </a:p>
          <a:p>
            <a:r>
              <a:rPr lang="en-US" sz="1900" dirty="0"/>
              <a:t>Next: Plot of the numbers between -5 and 5 transformed into the range 0 and 1 using the logistic function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3EC9AC-F42D-4E04-8F5D-4C2976A87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436" y="3174100"/>
            <a:ext cx="1810003" cy="5525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120110-EC58-4064-BCFA-EF7C1393D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851" y="3019024"/>
            <a:ext cx="2524477" cy="847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681DF7-8BA2-80C9-2F07-A3F4C5379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9321" y="5345695"/>
            <a:ext cx="3225966" cy="43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781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5EB82-9A90-4998-84AE-12906225B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Standard logistic function - Graph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094B7A-5D00-4A43-9B57-F7FE6A8D9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952" y="1414181"/>
            <a:ext cx="7468642" cy="40296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3E8424-C1A5-43E6-AEF3-169936CAF806}"/>
              </a:ext>
            </a:extLst>
          </p:cNvPr>
          <p:cNvSpPr txBox="1"/>
          <p:nvPr/>
        </p:nvSpPr>
        <p:spPr>
          <a:xfrm>
            <a:off x="416859" y="5443818"/>
            <a:ext cx="109369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looking at the graph of the standard logistic function, we can see how well it fits our classification purpose: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could interpret the output of f(x)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it’s higher than or equal to the threshold 0.5 we would say that the class of x is 1 or positive;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otherwise, it’s 0 or negative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089E3-38ED-BF32-35D1-903E52380E2D}"/>
              </a:ext>
            </a:extLst>
          </p:cNvPr>
          <p:cNvSpPr txBox="1"/>
          <p:nvPr/>
        </p:nvSpPr>
        <p:spPr>
          <a:xfrm>
            <a:off x="7813964" y="1468582"/>
            <a:ext cx="40870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Plot of the numbers between -5 and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Transformed into the range 0 and 1 using the logistic function</a:t>
            </a:r>
          </a:p>
        </p:txBody>
      </p:sp>
    </p:spTree>
    <p:extLst>
      <p:ext uri="{BB962C8B-B14F-4D97-AF65-F5344CB8AC3E}">
        <p14:creationId xmlns:p14="http://schemas.microsoft.com/office/powerpoint/2010/main" val="1102573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7AC64-39CC-49C0-A051-A5606FDB9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Standard logistic function - Graph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4CF482-435A-4F89-A336-44AB964EFE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6472" y="1407995"/>
            <a:ext cx="7051871" cy="45261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1493DC-E46B-49C7-9311-4D2309735275}"/>
              </a:ext>
            </a:extLst>
          </p:cNvPr>
          <p:cNvSpPr txBox="1"/>
          <p:nvPr/>
        </p:nvSpPr>
        <p:spPr>
          <a:xfrm>
            <a:off x="174812" y="4434342"/>
            <a:ext cx="46392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# x is any real number</a:t>
            </a:r>
          </a:p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r>
              <a:rPr lang="en-IN" dirty="0"/>
              <a:t>print(</a:t>
            </a:r>
            <a:r>
              <a:rPr lang="pl-PL" dirty="0"/>
              <a:t>1.0 / (1 + np.exp(-</a:t>
            </a:r>
            <a:r>
              <a:rPr lang="en-IN" dirty="0"/>
              <a:t>x</a:t>
            </a:r>
            <a:r>
              <a:rPr lang="pl-PL" dirty="0"/>
              <a:t>))</a:t>
            </a:r>
            <a:r>
              <a:rPr lang="en-IN" dirty="0"/>
              <a:t>)  </a:t>
            </a:r>
          </a:p>
          <a:p>
            <a:r>
              <a:rPr lang="en-IN" dirty="0">
                <a:solidFill>
                  <a:srgbClr val="00B0F0"/>
                </a:solidFill>
              </a:rPr>
              <a:t>Define function:</a:t>
            </a:r>
          </a:p>
          <a:p>
            <a:r>
              <a:rPr lang="en-IN" dirty="0"/>
              <a:t>def sigmoid(x):</a:t>
            </a:r>
          </a:p>
          <a:p>
            <a:r>
              <a:rPr lang="en-IN" dirty="0"/>
              <a:t>  	return 1.0 / (1 + </a:t>
            </a:r>
            <a:r>
              <a:rPr lang="en-IN" dirty="0" err="1"/>
              <a:t>np.exp</a:t>
            </a:r>
            <a:r>
              <a:rPr lang="en-IN" dirty="0"/>
              <a:t>(-x))</a:t>
            </a:r>
          </a:p>
          <a:p>
            <a:r>
              <a:rPr lang="en-IN" dirty="0"/>
              <a:t>Ex: x=0, exp(0)= 1 and sigmoid(0)= 0.5</a:t>
            </a:r>
          </a:p>
        </p:txBody>
      </p:sp>
    </p:spTree>
    <p:extLst>
      <p:ext uri="{BB962C8B-B14F-4D97-AF65-F5344CB8AC3E}">
        <p14:creationId xmlns:p14="http://schemas.microsoft.com/office/powerpoint/2010/main" val="2223695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7F125-7898-4FF5-AA62-493A9D575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the output of sigmoid function g(z)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7814C5-6246-4336-8C4C-9DA53826F3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2406" y="2737954"/>
            <a:ext cx="2657846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92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D0C3-618E-4DA8-968D-5ADB9860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the output of sigmoid function g(z)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35B62B-DA10-4001-A9C4-6C3EFD0923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4918" y="2268477"/>
            <a:ext cx="6871446" cy="36685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BCCFAE-9252-3013-A461-037E11872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789" y="2620916"/>
            <a:ext cx="4020340" cy="290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603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E250E-A593-40C4-9BBB-0260B16A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Sigmoid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651F7-B914-4EAB-8D19-A41DA14EC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Sigmoid is a mathematical function that takes any real number and maps it to a probability between 0 and 1.</a:t>
            </a:r>
          </a:p>
          <a:p>
            <a:r>
              <a:rPr lang="en-US" dirty="0"/>
              <a:t>The sigmoid function forms an S shaped graph</a:t>
            </a:r>
          </a:p>
          <a:p>
            <a:pPr lvl="1"/>
            <a:r>
              <a:rPr lang="en-US" dirty="0"/>
              <a:t>that can take any real-valued number and map it into a value between 0 and 1, but never exactly at those limits.</a:t>
            </a:r>
          </a:p>
          <a:p>
            <a:pPr lvl="1"/>
            <a:r>
              <a:rPr lang="en-US" dirty="0"/>
              <a:t>which means as  x  approaches infinity, the probability becomes 1, and as  x approaches negative infinity, the probability becomes 0</a:t>
            </a:r>
          </a:p>
          <a:p>
            <a:r>
              <a:rPr lang="en-US" dirty="0"/>
              <a:t>The formula of the sigmoid function is: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FA3F6A-0B23-44A7-A46F-03B0EDD7B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124" y="5309282"/>
            <a:ext cx="2523963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64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9F45D-0E0F-4DD7-8309-416344958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B51C1-16FA-4E7B-8070-8A1FDF27C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Logistic regression is one of the most popular machine learning algorithms for binary  classification.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f(x)  = y =  output between 0 and 1 (probability estimate)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x = input to the function (our algorithm’s prediction ex: B0+ B1 * x). 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Denote x as z to distinguish such that  y= 1/(1+e</a:t>
            </a:r>
            <a:r>
              <a:rPr lang="en-US" baseline="30000" dirty="0">
                <a:solidFill>
                  <a:srgbClr val="00B0F0"/>
                </a:solidFill>
              </a:rPr>
              <a:t>–z</a:t>
            </a:r>
            <a:r>
              <a:rPr lang="en-US" dirty="0">
                <a:solidFill>
                  <a:srgbClr val="00B0F0"/>
                </a:solidFill>
              </a:rPr>
              <a:t>) where  z= B0+B1*x</a:t>
            </a:r>
          </a:p>
          <a:p>
            <a:pPr lvl="1"/>
            <a:r>
              <a:rPr lang="en-US" dirty="0"/>
              <a:t>e = base of natural log (ln is denoted for base e. Ex: log of base e is log</a:t>
            </a:r>
            <a:r>
              <a:rPr lang="en-US" baseline="-25000" dirty="0"/>
              <a:t>e</a:t>
            </a:r>
            <a:r>
              <a:rPr lang="en-US" dirty="0"/>
              <a:t> = ln (natural log))</a:t>
            </a:r>
          </a:p>
          <a:p>
            <a:r>
              <a:rPr lang="en-US" dirty="0"/>
              <a:t>if the value of x goes to positive infinity then the predicted value of y will become 1 </a:t>
            </a:r>
          </a:p>
          <a:p>
            <a:r>
              <a:rPr lang="en-US" dirty="0"/>
              <a:t>if it goes to negative infinity then the predicted value of y will become 0.</a:t>
            </a:r>
          </a:p>
          <a:p>
            <a:r>
              <a:rPr lang="en-US" dirty="0"/>
              <a:t> And if the outcome of the sigmoid function is more than 0.5 then we classify that label as class 1 or positive class </a:t>
            </a:r>
          </a:p>
          <a:p>
            <a:r>
              <a:rPr lang="en-US" dirty="0"/>
              <a:t>if it is less than 0.5 then we can classify it to negative class or label as class 0</a:t>
            </a:r>
          </a:p>
          <a:p>
            <a:endParaRPr lang="en-IN" dirty="0">
              <a:latin typeface="CMR1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F6227C-CE7F-4EF5-A83C-65F4D3851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816" y="2131232"/>
            <a:ext cx="2523963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99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2B63E-E2F3-BC27-28C3-E69AD5939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Sigmoid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5B2A04-5895-6A89-03A7-EAAF851AA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5709" y="2037007"/>
            <a:ext cx="1959634" cy="2009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42E09D-5D1C-E14A-17B8-09E3D40BE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31" y="4543104"/>
            <a:ext cx="7290594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04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AD7F-766B-4C53-B897-715F993C2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337"/>
            <a:ext cx="10515600" cy="1325563"/>
          </a:xfrm>
        </p:spPr>
        <p:txBody>
          <a:bodyPr/>
          <a:lstStyle/>
          <a:p>
            <a:r>
              <a:rPr lang="en-IN" dirty="0"/>
              <a:t>How Logistic Regression Predicts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E8E3-3BB2-4AAC-ABCA-7AE18D40B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Logistic regression models the probability of the default class (e.g. the first class). </a:t>
            </a:r>
          </a:p>
          <a:p>
            <a:r>
              <a:rPr lang="en-US" dirty="0"/>
              <a:t>Ex: if we are modeling people’s status (Y) as rich(1) or poor(0)  from their income(X), then the first class could be rich </a:t>
            </a:r>
          </a:p>
          <a:p>
            <a:r>
              <a:rPr lang="en-US" dirty="0"/>
              <a:t>The logistic regression model could be written as the probability of rich given a person’s income</a:t>
            </a:r>
          </a:p>
          <a:p>
            <a:r>
              <a:rPr lang="en-US" dirty="0"/>
              <a:t>Formally: P(income) = P(status = </a:t>
            </a:r>
            <a:r>
              <a:rPr lang="en-US" dirty="0" err="1"/>
              <a:t>rich|income</a:t>
            </a:r>
            <a:r>
              <a:rPr lang="en-US" dirty="0"/>
              <a:t>) </a:t>
            </a:r>
          </a:p>
          <a:p>
            <a:r>
              <a:rPr lang="en-US" dirty="0"/>
              <a:t>Another way, we are modeling the probability that an input (X) belongs to the default class (Y = 1), we can write this formally as:</a:t>
            </a:r>
          </a:p>
          <a:p>
            <a:r>
              <a:rPr lang="en-US" dirty="0"/>
              <a:t>P(X) = P(Y = 1|X)</a:t>
            </a:r>
          </a:p>
          <a:p>
            <a:r>
              <a:rPr lang="en-US" dirty="0"/>
              <a:t>P(y=1∣X) is the probability that the output y is 1 given input 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5394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14340-4ACD-4957-0CCD-8C2B68528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7901"/>
          </a:xfrm>
        </p:spPr>
        <p:txBody>
          <a:bodyPr>
            <a:normAutofit fontScale="90000"/>
          </a:bodyPr>
          <a:lstStyle/>
          <a:p>
            <a:r>
              <a:rPr lang="en-US" dirty="0"/>
              <a:t>Logistic Regression Models a Probability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6DA9F-B3FB-D7E8-0465-4C35752DC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468"/>
            <a:ext cx="10515600" cy="4848495"/>
          </a:xfrm>
        </p:spPr>
        <p:txBody>
          <a:bodyPr>
            <a:normAutofit/>
          </a:bodyPr>
          <a:lstStyle/>
          <a:p>
            <a:r>
              <a:rPr lang="en-US" sz="2000" dirty="0"/>
              <a:t>For a binary outcome, Y has two possible classes, commonly represented as 0 and 1.</a:t>
            </a:r>
          </a:p>
          <a:p>
            <a:r>
              <a:rPr lang="en-US" sz="2000" dirty="0"/>
              <a:t>Example: Predicting status from income</a:t>
            </a:r>
          </a:p>
          <a:p>
            <a:pPr lvl="1"/>
            <a:r>
              <a:rPr lang="en-US" sz="1600" dirty="0"/>
              <a:t>X = Income (predictor variable) </a:t>
            </a:r>
          </a:p>
          <a:p>
            <a:pPr lvl="1"/>
            <a:r>
              <a:rPr lang="en-US" sz="1600" dirty="0"/>
              <a:t>x = a particular observed income value </a:t>
            </a:r>
          </a:p>
          <a:p>
            <a:pPr lvl="1"/>
            <a:r>
              <a:rPr lang="en-US" sz="1600" dirty="0"/>
              <a:t>Y = Status       Y=1 → Rich      Y=0 → Poor</a:t>
            </a:r>
          </a:p>
          <a:p>
            <a:r>
              <a:rPr lang="en-US" sz="2000" dirty="0"/>
              <a:t>We choose one outcome as the event of interest. Here, we choose Rich (Y=1).</a:t>
            </a:r>
          </a:p>
          <a:p>
            <a:r>
              <a:rPr lang="en-US" sz="2000" dirty="0"/>
              <a:t>Logistic regression </a:t>
            </a:r>
            <a:r>
              <a:rPr lang="en-US" sz="2000" dirty="0" err="1"/>
              <a:t>estimates:P</a:t>
            </a:r>
            <a:r>
              <a:rPr lang="en-US" sz="2000" dirty="0"/>
              <a:t>(Y=1∣X=x)	</a:t>
            </a:r>
          </a:p>
          <a:p>
            <a:r>
              <a:rPr lang="en-US" sz="2000" dirty="0"/>
              <a:t>​Meaning: The probability that Y=1 (Rich), given that the person's income is x.</a:t>
            </a:r>
          </a:p>
          <a:p>
            <a:r>
              <a:rPr lang="en-US" sz="2000" dirty="0"/>
              <a:t>For logistic regression: </a:t>
            </a:r>
          </a:p>
          <a:p>
            <a:r>
              <a:rPr lang="en-US" sz="2000" dirty="0"/>
              <a:t>The probability of the other outcome is: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Note:</a:t>
            </a:r>
            <a:r>
              <a:rPr lang="en-US" sz="1400" dirty="0"/>
              <a:t> We model P(Y=1∣X=x) by convention. Once this probability is known, the probability of Y=0 is automatically 1−p.</a:t>
            </a:r>
          </a:p>
          <a:p>
            <a:endParaRPr lang="en-US" sz="20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5264F-3F04-D412-CF2A-AFCEC214E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492" y="4135458"/>
            <a:ext cx="3029106" cy="4762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1DE7D3-5B1C-3CCD-B445-F68B5D2B9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607" y="4805825"/>
            <a:ext cx="3791145" cy="28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42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BC866-8C27-4FAE-AB1C-FCD7C3A0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Derivation of Sigmoid function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F3C41-2FDD-4B72-A448-74934ABC5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1. Sigmoid function is defined as </a:t>
            </a:r>
            <a:r>
              <a:rPr lang="en-US" dirty="0"/>
              <a:t>P(Y = 1|X) = 1/(1+e^(-z))</a:t>
            </a:r>
          </a:p>
          <a:p>
            <a:pPr lvl="1"/>
            <a:r>
              <a:rPr lang="en-US" dirty="0"/>
              <a:t>Sigmoid function is related to the probability</a:t>
            </a:r>
          </a:p>
          <a:p>
            <a:pPr lvl="1"/>
            <a:r>
              <a:rPr lang="en-US" dirty="0"/>
              <a:t>The output of the sigmoid function can be directly interpreted as the estimated probability P(y=1∣x). </a:t>
            </a:r>
          </a:p>
          <a:p>
            <a:pPr lvl="1"/>
            <a:r>
              <a:rPr lang="en-US" dirty="0"/>
              <a:t>Ex: if the sigmoid function outputs 0.8 for a given input, it means that the algorithm estimates an 80% chance that the event  y=1 (belonging to a certain class) occurs given the input x</a:t>
            </a:r>
          </a:p>
          <a:p>
            <a:r>
              <a:rPr lang="en-US" dirty="0"/>
              <a:t>2. Derive 1/(1+e^(-z)) = </a:t>
            </a:r>
            <a:r>
              <a:rPr lang="en-US" dirty="0" err="1"/>
              <a:t>e^z</a:t>
            </a:r>
            <a:r>
              <a:rPr lang="en-US" dirty="0"/>
              <a:t>/(1+e^z))</a:t>
            </a:r>
          </a:p>
          <a:p>
            <a:endParaRPr lang="en-US" dirty="0"/>
          </a:p>
          <a:p>
            <a:r>
              <a:rPr lang="en-US" dirty="0"/>
              <a:t>Note: z is a linear combination of input features and weights used in logistic regression. </a:t>
            </a:r>
            <a:r>
              <a:rPr lang="en-US" dirty="0">
                <a:solidFill>
                  <a:srgbClr val="00B0F0"/>
                </a:solidFill>
              </a:rPr>
              <a:t>z= B0+B1*x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5336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334B-1677-4C62-B736-1B483803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83F87-D709-4284-A772-8F4684C92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Logistic regression uses an equation very much like linear regression.</a:t>
            </a:r>
          </a:p>
          <a:p>
            <a:r>
              <a:rPr lang="en-US" dirty="0"/>
              <a:t>Input values (x) are combined linearly using weights or coefficient values to predict an output value (y). </a:t>
            </a:r>
          </a:p>
          <a:p>
            <a:r>
              <a:rPr lang="en-US" dirty="0">
                <a:solidFill>
                  <a:srgbClr val="00B0F0"/>
                </a:solidFill>
              </a:rPr>
              <a:t>A key difference from linear regression </a:t>
            </a:r>
            <a:r>
              <a:rPr lang="en-US" dirty="0"/>
              <a:t>is that the output value being modeled is a binary values (0 or 1) rather than a numeric value.</a:t>
            </a:r>
          </a:p>
          <a:p>
            <a:r>
              <a:rPr lang="en-US" dirty="0"/>
              <a:t>Below is an example logistic regression equation: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y is the predicted output, </a:t>
            </a:r>
          </a:p>
          <a:p>
            <a:pPr lvl="1"/>
            <a:r>
              <a:rPr lang="en-US" dirty="0"/>
              <a:t>B0 is the bias or intercept term and </a:t>
            </a:r>
          </a:p>
          <a:p>
            <a:pPr lvl="1"/>
            <a:r>
              <a:rPr lang="en-US" dirty="0"/>
              <a:t>B1 is the coefficient for the single input value (x). </a:t>
            </a:r>
          </a:p>
          <a:p>
            <a:r>
              <a:rPr lang="en-US" dirty="0"/>
              <a:t>Each column in our input data has an associated B coefficient (a constant real value) that must be learned from our training data.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16B40-4EF3-4F49-9FFE-E92F57F97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242" y="3849644"/>
            <a:ext cx="2438740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90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AD7F-766B-4C53-B897-715F993C2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337"/>
            <a:ext cx="10515600" cy="1325563"/>
          </a:xfrm>
        </p:spPr>
        <p:txBody>
          <a:bodyPr/>
          <a:lstStyle/>
          <a:p>
            <a:r>
              <a:rPr lang="en-IN" dirty="0"/>
              <a:t>How Logistic Regression Predicts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E8E3-3BB2-4AAC-ABCA-7AE18D40B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7" y="1595165"/>
            <a:ext cx="10919012" cy="495149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Logistic regression is a classification algorithm</a:t>
            </a:r>
          </a:p>
          <a:p>
            <a:r>
              <a:rPr lang="en-US" sz="2400" dirty="0"/>
              <a:t>Note that the probability prediction must be transformed into binary values (0 or 1) to make a prediction. </a:t>
            </a:r>
          </a:p>
          <a:p>
            <a:r>
              <a:rPr lang="en-US" sz="2400" dirty="0"/>
              <a:t>Logistic regression is a linear method, but the predictions are transformed using the logistic function. </a:t>
            </a:r>
          </a:p>
          <a:p>
            <a:r>
              <a:rPr lang="en-US" sz="2400" dirty="0"/>
              <a:t>The impact of this is that we can no longer understand the predictions as a linear combination of the inputs as we can with linear regression </a:t>
            </a:r>
          </a:p>
          <a:p>
            <a:r>
              <a:rPr lang="en-US" sz="2400" dirty="0"/>
              <a:t>Continuing on from above, the model can be stated in terms of p(x) rather than y as termed previously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4C2F15-F81B-462B-BA53-5BD5D3C58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397" y="5557940"/>
            <a:ext cx="2772162" cy="6001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9280CE-BCE5-4981-8D86-9664DE231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284" y="5557940"/>
            <a:ext cx="2438611" cy="6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434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AD7F-766B-4C53-B897-715F993C2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Predictions with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E8E3-3BB2-4AAC-ABCA-7AE18D40B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Problem statement: </a:t>
            </a:r>
            <a:r>
              <a:rPr lang="en-US" dirty="0"/>
              <a:t>Assume we have a model that can predict whether a person is rich or poor based on their income  </a:t>
            </a:r>
          </a:p>
          <a:p>
            <a:r>
              <a:rPr lang="en-US" dirty="0">
                <a:solidFill>
                  <a:srgbClr val="00B0F0"/>
                </a:solidFill>
              </a:rPr>
              <a:t>Given an income of 150 hundreds is the person rich or poor? </a:t>
            </a:r>
          </a:p>
          <a:p>
            <a:r>
              <a:rPr lang="en-US" dirty="0"/>
              <a:t>Assume that we have learned the coefficients of B0 = -100 and B1 = 0.6. </a:t>
            </a:r>
          </a:p>
          <a:p>
            <a:r>
              <a:rPr lang="en-US" dirty="0"/>
              <a:t>We can calculate the probability of rich given an income of 150 hundreds</a:t>
            </a:r>
          </a:p>
          <a:p>
            <a:r>
              <a:rPr lang="en-US" dirty="0"/>
              <a:t>Formally P(rich | income = 150)</a:t>
            </a:r>
          </a:p>
          <a:p>
            <a:r>
              <a:rPr lang="en-US" dirty="0"/>
              <a:t>Calculate y</a:t>
            </a:r>
          </a:p>
          <a:p>
            <a:r>
              <a:rPr lang="en-US" dirty="0"/>
              <a:t>B0=-100, B1= 0.6, x= 150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9EA884-73FF-41BE-AFE2-728B46249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580523"/>
            <a:ext cx="2255716" cy="5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96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AD7F-766B-4C53-B897-715F993C2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Predictions with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E8E3-3BB2-4AAC-ABCA-7AE18D40B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Problem statement: </a:t>
            </a:r>
            <a:r>
              <a:rPr lang="en-US" dirty="0"/>
              <a:t>Assume we have a model that can predict whether a person is rich or poor based on their income  </a:t>
            </a:r>
          </a:p>
          <a:p>
            <a:r>
              <a:rPr lang="en-US" dirty="0">
                <a:solidFill>
                  <a:srgbClr val="00B0F0"/>
                </a:solidFill>
              </a:rPr>
              <a:t>Given an income of 150 hundreds is the person rich or poor? </a:t>
            </a:r>
          </a:p>
          <a:p>
            <a:r>
              <a:rPr lang="en-US" dirty="0"/>
              <a:t>Assume that we have learned the coefficients of B0 = -100 and B1 = 0.6. </a:t>
            </a:r>
          </a:p>
          <a:p>
            <a:r>
              <a:rPr lang="en-US" dirty="0"/>
              <a:t>Formally P(rich | income = 150)</a:t>
            </a:r>
          </a:p>
          <a:p>
            <a:endParaRPr lang="en-US" dirty="0"/>
          </a:p>
          <a:p>
            <a:r>
              <a:rPr lang="en-US" dirty="0"/>
              <a:t>Y= </a:t>
            </a:r>
            <a:r>
              <a:rPr lang="en-IN" dirty="0"/>
              <a:t>0.000453978687. </a:t>
            </a:r>
          </a:p>
          <a:p>
            <a:r>
              <a:rPr lang="en-US" dirty="0"/>
              <a:t>So a probability of near zero that the person is rich</a:t>
            </a:r>
          </a:p>
          <a:p>
            <a:r>
              <a:rPr lang="en-US" dirty="0"/>
              <a:t>prediction = 0 IF p(rich) &lt; 0.5</a:t>
            </a:r>
          </a:p>
          <a:p>
            <a:r>
              <a:rPr lang="en-US" dirty="0"/>
              <a:t>prediction = 1 IF p(rich) &gt;= 0.5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125482-1674-4271-935C-05A1A49A8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566" y="3429000"/>
            <a:ext cx="2257740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840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81A1568-37EE-4AD0-8B64-712972DBC1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Derivation of the update equation for logistic regression using stochastic gradient descent</a:t>
            </a:r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6103CC0-237E-4024-B7E4-980977B8BF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089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7CA2-F592-4DDD-8A0B-5599AF00F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Regression Model</a:t>
            </a:r>
            <a:r>
              <a:rPr lang="en-US" dirty="0"/>
              <a:t>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8BD28-7E78-4682-AD4D-7C026DD30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logistic regression model predicts the probability that a given input point belongs to a certain class. </a:t>
            </a:r>
          </a:p>
          <a:p>
            <a:r>
              <a:rPr lang="en-US" dirty="0"/>
              <a:t>The probability is modeled using the sigmoid function:</a:t>
            </a:r>
          </a:p>
          <a:p>
            <a:pPr marL="0" indent="0">
              <a:buNone/>
            </a:pPr>
            <a:r>
              <a:rPr lang="en-US" dirty="0"/>
              <a:t>      sigmoid(z)=1/(1+e^(-z)) ​</a:t>
            </a:r>
          </a:p>
          <a:p>
            <a:r>
              <a:rPr lang="en-US" i="1" dirty="0"/>
              <a:t>z</a:t>
            </a:r>
            <a:r>
              <a:rPr lang="en-US" dirty="0"/>
              <a:t>=</a:t>
            </a:r>
            <a:r>
              <a:rPr lang="en-US" i="1" dirty="0"/>
              <a:t>b0</a:t>
            </a:r>
            <a:r>
              <a:rPr lang="en-US" dirty="0"/>
              <a:t>​+</a:t>
            </a:r>
            <a:r>
              <a:rPr lang="en-US" i="1" dirty="0"/>
              <a:t>b</a:t>
            </a:r>
            <a:r>
              <a:rPr lang="en-US" dirty="0"/>
              <a:t>1​⋅</a:t>
            </a:r>
            <a:r>
              <a:rPr lang="en-US" i="1" dirty="0"/>
              <a:t>x</a:t>
            </a:r>
            <a:r>
              <a:rPr lang="en-US" dirty="0"/>
              <a:t>1​+</a:t>
            </a:r>
            <a:r>
              <a:rPr lang="en-US" i="1" dirty="0"/>
              <a:t>b</a:t>
            </a:r>
            <a:r>
              <a:rPr lang="en-US" dirty="0"/>
              <a:t>2​⋅</a:t>
            </a:r>
            <a:r>
              <a:rPr lang="en-US" i="1" dirty="0"/>
              <a:t>x</a:t>
            </a:r>
            <a:r>
              <a:rPr lang="en-US" dirty="0"/>
              <a:t>2​ is the linear combination of the </a:t>
            </a:r>
          </a:p>
          <a:p>
            <a:pPr lvl="1"/>
            <a:r>
              <a:rPr lang="en-US" dirty="0"/>
              <a:t>parameters (b0 b1, b2) and </a:t>
            </a:r>
          </a:p>
          <a:p>
            <a:pPr lvl="1"/>
            <a:r>
              <a:rPr lang="en-US" dirty="0"/>
              <a:t>input features (x1, x2).</a:t>
            </a:r>
          </a:p>
          <a:p>
            <a:r>
              <a:rPr lang="en-IN" dirty="0"/>
              <a:t>In general, Z</a:t>
            </a:r>
            <a:r>
              <a:rPr lang="pl-PL" dirty="0"/>
              <a:t>=w0​+w1</a:t>
            </a:r>
            <a:r>
              <a:rPr lang="en-IN" dirty="0"/>
              <a:t> </a:t>
            </a:r>
            <a:r>
              <a:rPr lang="pl-PL" dirty="0"/>
              <a:t>​x1​+w2</a:t>
            </a:r>
            <a:r>
              <a:rPr lang="en-IN" dirty="0"/>
              <a:t> </a:t>
            </a:r>
            <a:r>
              <a:rPr lang="pl-PL" dirty="0"/>
              <a:t>​x2​+⋯+wk​</a:t>
            </a:r>
            <a:r>
              <a:rPr lang="en-IN" dirty="0"/>
              <a:t> </a:t>
            </a:r>
            <a:r>
              <a:rPr lang="pl-PL" dirty="0"/>
              <a:t>xk</a:t>
            </a:r>
            <a:r>
              <a:rPr lang="en-IN" dirty="0"/>
              <a:t> = WT x</a:t>
            </a:r>
            <a:endParaRPr lang="en-US" dirty="0"/>
          </a:p>
          <a:p>
            <a:pPr lvl="1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3995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8E6D2-B75F-4B93-A206-85A5D82BE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Cost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D42C1-B003-475F-809B-D50A17B93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Cost Function</a:t>
            </a:r>
            <a:r>
              <a:rPr lang="en-US" dirty="0"/>
              <a:t>:</a:t>
            </a:r>
          </a:p>
          <a:p>
            <a:r>
              <a:rPr lang="en-US" dirty="0"/>
              <a:t>The cost function for logistic regression is the negative log-likelihood (cross-entropy) loss </a:t>
            </a:r>
          </a:p>
          <a:p>
            <a:r>
              <a:rPr lang="en-US" dirty="0"/>
              <a:t>For a single training example (</a:t>
            </a:r>
            <a:r>
              <a:rPr lang="en-US" i="1" dirty="0"/>
              <a:t>x</a:t>
            </a:r>
            <a:r>
              <a:rPr lang="en-US" dirty="0"/>
              <a:t>1​,</a:t>
            </a:r>
            <a:r>
              <a:rPr lang="en-US" i="1" dirty="0"/>
              <a:t>x</a:t>
            </a:r>
            <a:r>
              <a:rPr lang="en-US" dirty="0"/>
              <a:t>2​,</a:t>
            </a:r>
            <a:r>
              <a:rPr lang="en-US" i="1" dirty="0"/>
              <a:t>y</a:t>
            </a:r>
            <a:r>
              <a:rPr lang="en-US" dirty="0"/>
              <a:t>), the cost can be defined 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51B07B-4D07-43C7-947C-FCDF0BCA3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062" y="4100478"/>
            <a:ext cx="5839640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856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D6239-EACA-4C37-968A-076FFD2B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of the terms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1E91C-8980-4CD6-BB91-56430F9FB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1. </a:t>
            </a:r>
            <a:r>
              <a:rPr lang="en-US" b="1" dirty="0">
                <a:solidFill>
                  <a:srgbClr val="00B0F0"/>
                </a:solidFill>
              </a:rPr>
              <a:t>Prediction</a:t>
            </a:r>
            <a:r>
              <a:rPr lang="en-US" dirty="0">
                <a:solidFill>
                  <a:srgbClr val="00B0F0"/>
                </a:solidFill>
              </a:rPr>
              <a:t>:</a:t>
            </a:r>
            <a:r>
              <a:rPr lang="en-US" dirty="0"/>
              <a:t> In logistic regression, the prediction for a given input (</a:t>
            </a:r>
            <a:r>
              <a:rPr lang="en-US" i="1" dirty="0"/>
              <a:t>x</a:t>
            </a:r>
            <a:r>
              <a:rPr lang="en-US" dirty="0"/>
              <a:t>1​,</a:t>
            </a:r>
            <a:r>
              <a:rPr lang="en-US" i="1" dirty="0"/>
              <a:t>x</a:t>
            </a:r>
            <a:r>
              <a:rPr lang="en-US" dirty="0"/>
              <a:t>2​) is the probability that the input belongs to a certain class (usually the positive class). It is computed using the sigmoid function: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Here, </a:t>
            </a:r>
            <a:r>
              <a:rPr lang="en-US" i="1" dirty="0"/>
              <a:t>b</a:t>
            </a:r>
            <a:r>
              <a:rPr lang="en-US" dirty="0"/>
              <a:t>0​, </a:t>
            </a:r>
            <a:r>
              <a:rPr lang="en-US" i="1" dirty="0"/>
              <a:t>b</a:t>
            </a:r>
            <a:r>
              <a:rPr lang="en-US" dirty="0"/>
              <a:t>1​, and </a:t>
            </a:r>
            <a:r>
              <a:rPr lang="en-US" i="1" dirty="0"/>
              <a:t>b</a:t>
            </a:r>
            <a:r>
              <a:rPr lang="en-US" dirty="0"/>
              <a:t>2​ -  are the model parameters (coefficients)</a:t>
            </a:r>
          </a:p>
          <a:p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dirty="0"/>
              <a:t>1​, </a:t>
            </a:r>
            <a:r>
              <a:rPr lang="en-US" i="1" dirty="0"/>
              <a:t>x</a:t>
            </a:r>
            <a:r>
              <a:rPr lang="en-US" dirty="0"/>
              <a:t>2 -​ are the input features.</a:t>
            </a:r>
          </a:p>
          <a:p>
            <a:pPr marL="0" indent="0">
              <a:buNone/>
            </a:pPr>
            <a:r>
              <a:rPr lang="en-US" b="1" dirty="0"/>
              <a:t>2. </a:t>
            </a:r>
            <a:r>
              <a:rPr lang="en-US" b="1" dirty="0">
                <a:solidFill>
                  <a:srgbClr val="00B0F0"/>
                </a:solidFill>
              </a:rPr>
              <a:t>True Label (</a:t>
            </a:r>
            <a:r>
              <a:rPr lang="en-US" b="1" i="1" dirty="0">
                <a:solidFill>
                  <a:srgbClr val="00B0F0"/>
                </a:solidFill>
              </a:rPr>
              <a:t>y</a:t>
            </a:r>
            <a:r>
              <a:rPr lang="en-US" b="1" dirty="0">
                <a:solidFill>
                  <a:srgbClr val="00B0F0"/>
                </a:solidFill>
              </a:rPr>
              <a:t>)</a:t>
            </a:r>
            <a:r>
              <a:rPr lang="en-US" dirty="0">
                <a:solidFill>
                  <a:srgbClr val="00B0F0"/>
                </a:solidFill>
              </a:rPr>
              <a:t>: </a:t>
            </a:r>
            <a:r>
              <a:rPr lang="en-US" dirty="0"/>
              <a:t>The true label </a:t>
            </a:r>
            <a:r>
              <a:rPr lang="en-US" i="1" dirty="0"/>
              <a:t>y</a:t>
            </a:r>
            <a:r>
              <a:rPr lang="en-US" dirty="0"/>
              <a:t> represents the actual class label associated with the input. It's either 0 (negative class) or 1 (positive class) in the context of binary classification.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926AB0-1948-41FC-9904-A034CE4CA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483" y="3146444"/>
            <a:ext cx="2792957" cy="56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729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A6467-1FAE-45EC-B0FF-107B95949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Derivation of the update equations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D6876-7FA0-4AA2-9386-05F441EB4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/>
              <a:t>consider a single training example with input features </a:t>
            </a:r>
            <a:r>
              <a:rPr lang="en-IN" sz="2400" i="1" dirty="0"/>
              <a:t>x</a:t>
            </a:r>
            <a:r>
              <a:rPr lang="en-IN" sz="2400" dirty="0"/>
              <a:t>1​ and </a:t>
            </a:r>
            <a:r>
              <a:rPr lang="en-IN" sz="2400" i="1" dirty="0"/>
              <a:t>x</a:t>
            </a:r>
            <a:r>
              <a:rPr lang="en-IN" sz="2400" dirty="0"/>
              <a:t>2​ and a true label </a:t>
            </a:r>
            <a:r>
              <a:rPr lang="en-IN" sz="2400" i="1" dirty="0"/>
              <a:t>y</a:t>
            </a:r>
            <a:r>
              <a:rPr lang="en-IN" sz="2400" dirty="0"/>
              <a:t>.</a:t>
            </a:r>
          </a:p>
          <a:p>
            <a:r>
              <a:rPr lang="en-IN" sz="2400" dirty="0"/>
              <a:t>The cost function for logistic regression is given by:</a:t>
            </a:r>
          </a:p>
          <a:p>
            <a:r>
              <a:rPr lang="en-IN" sz="2400" dirty="0"/>
              <a:t>Cost(</a:t>
            </a:r>
            <a:r>
              <a:rPr lang="en-IN" sz="2400" i="1" dirty="0"/>
              <a:t>b</a:t>
            </a:r>
            <a:r>
              <a:rPr lang="en-IN" sz="2400" dirty="0"/>
              <a:t>0​,</a:t>
            </a:r>
            <a:r>
              <a:rPr lang="en-IN" sz="2400" i="1" dirty="0"/>
              <a:t>b</a:t>
            </a:r>
            <a:r>
              <a:rPr lang="en-IN" sz="2400" dirty="0"/>
              <a:t>1​,</a:t>
            </a:r>
            <a:r>
              <a:rPr lang="en-IN" sz="2400" i="1" dirty="0"/>
              <a:t>b</a:t>
            </a:r>
            <a:r>
              <a:rPr lang="en-IN" sz="2400" dirty="0"/>
              <a:t>2​)= - </a:t>
            </a:r>
            <a:r>
              <a:rPr lang="en-IN" sz="2400" i="1" dirty="0" err="1"/>
              <a:t>y</a:t>
            </a:r>
            <a:r>
              <a:rPr lang="en-IN" sz="2400" dirty="0" err="1"/>
              <a:t>⋅log</a:t>
            </a:r>
            <a:r>
              <a:rPr lang="en-IN" sz="2400" dirty="0"/>
              <a:t>(prediction)−(1−</a:t>
            </a:r>
            <a:r>
              <a:rPr lang="en-IN" sz="2400" i="1" dirty="0"/>
              <a:t>y</a:t>
            </a:r>
            <a:r>
              <a:rPr lang="en-IN" sz="2400" dirty="0"/>
              <a:t>)⋅log(1−prediction)</a:t>
            </a:r>
          </a:p>
          <a:p>
            <a:pPr marL="0" indent="0">
              <a:buNone/>
            </a:pPr>
            <a:r>
              <a:rPr lang="en-US" sz="2400" dirty="0"/>
              <a:t>                            = -y. log(sigmoid(z))-(1-y)*log(1-sigmoid(z))</a:t>
            </a:r>
            <a:endParaRPr lang="en-IN" sz="2400" dirty="0"/>
          </a:p>
          <a:p>
            <a:r>
              <a:rPr lang="en-US" sz="2400" dirty="0"/>
              <a:t>Taking the partial derivative of the cost function with respect to </a:t>
            </a:r>
            <a:r>
              <a:rPr lang="en-US" sz="2400" i="1" dirty="0"/>
              <a:t>b</a:t>
            </a:r>
            <a:r>
              <a:rPr lang="en-US" sz="2400" dirty="0"/>
              <a:t>0​, </a:t>
            </a:r>
            <a:r>
              <a:rPr lang="en-US" sz="2400" i="1" dirty="0"/>
              <a:t>b</a:t>
            </a:r>
            <a:r>
              <a:rPr lang="en-US" sz="2400" dirty="0"/>
              <a:t>1​, and </a:t>
            </a:r>
            <a:r>
              <a:rPr lang="en-US" sz="2400" i="1" dirty="0"/>
              <a:t>b</a:t>
            </a:r>
            <a:r>
              <a:rPr lang="en-US" sz="2400" dirty="0"/>
              <a:t>2​, we get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BFC0EF-425F-4874-BFCA-7F51653E0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458" y="4694990"/>
            <a:ext cx="3247954" cy="10688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0F13C5-80FF-42D5-1FAA-B03C5BFD3389}"/>
              </a:ext>
            </a:extLst>
          </p:cNvPr>
          <p:cNvSpPr txBox="1"/>
          <p:nvPr/>
        </p:nvSpPr>
        <p:spPr>
          <a:xfrm>
            <a:off x="838200" y="6071834"/>
            <a:ext cx="60960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for derivation refer to class notes</a:t>
            </a:r>
          </a:p>
        </p:txBody>
      </p:sp>
    </p:spTree>
    <p:extLst>
      <p:ext uri="{BB962C8B-B14F-4D97-AF65-F5344CB8AC3E}">
        <p14:creationId xmlns:p14="http://schemas.microsoft.com/office/powerpoint/2010/main" val="2215268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04075-5E63-4827-BB21-672624CFB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SGD - Derivation of the update equations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CE8AB-17D6-4940-B12B-03D29D074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395"/>
            <a:ext cx="10515600" cy="4909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Stochastic Gradient Descent Update:</a:t>
            </a:r>
          </a:p>
          <a:p>
            <a:r>
              <a:rPr lang="en-US" dirty="0"/>
              <a:t>In stochastic gradient descent (SGD), we update the parameters using the negative gradient of the cost function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Substituting the gradient expressions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716C6-A878-4741-8443-2159C6520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561" y="2947920"/>
            <a:ext cx="1943371" cy="9621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A4C6B8-C2B8-40C2-823D-C0A61F7A1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703" y="5274605"/>
            <a:ext cx="3343742" cy="990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FDC9C1-D137-4476-8397-332B381BC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47920"/>
            <a:ext cx="3249450" cy="106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71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9B1FB-B5DF-E1C1-C706-00F76EC1E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SGD </a:t>
            </a:r>
            <a:r>
              <a:rPr lang="en-IN" b="1" dirty="0"/>
              <a:t>- Update equations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F3BC8-1756-1FE6-4D33-3F7B45AC1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Stochastic Gradient Descent (SGD) </a:t>
            </a:r>
          </a:p>
          <a:p>
            <a:r>
              <a:rPr lang="en-US" dirty="0"/>
              <a:t>Instead of computing the gradient over all m examples, SGD updates the coefficients after each training example.</a:t>
            </a:r>
          </a:p>
          <a:p>
            <a:r>
              <a:rPr lang="en-US" dirty="0"/>
              <a:t>The gradient is computed for a single example (𝑥𝑖,𝑦𝑖) at a time.</a:t>
            </a:r>
          </a:p>
          <a:p>
            <a:r>
              <a:rPr lang="en-US" dirty="0"/>
              <a:t>SGD Update Equations - for the 𝑖-</a:t>
            </a:r>
            <a:r>
              <a:rPr lang="en-US" dirty="0" err="1"/>
              <a:t>th</a:t>
            </a:r>
            <a:r>
              <a:rPr lang="en-US" dirty="0"/>
              <a:t> training 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Note: No division by m because we are only using one example.</a:t>
            </a:r>
          </a:p>
          <a:p>
            <a:r>
              <a:rPr lang="en-US" dirty="0"/>
              <a:t>Loop over each example and update b0​ and 𝑏1​ immediately.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EC1F4-CFBB-9A49-9AD2-54DE9BF29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541" y="4043261"/>
            <a:ext cx="3011349" cy="120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9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67551-3D79-CB2C-7FBD-AF611A442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C64A9-2158-1CA1-6483-E2D820F6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BGD - Update equations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0C79DD-5E16-26D4-550C-87D042A5A96F}"/>
              </a:ext>
            </a:extLst>
          </p:cNvPr>
          <p:cNvSpPr txBox="1"/>
          <p:nvPr/>
        </p:nvSpPr>
        <p:spPr>
          <a:xfrm>
            <a:off x="954740" y="1721624"/>
            <a:ext cx="101121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 the gradient over all examples, then update 𝑏0 and b1	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 = total number of training examples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α = learning rate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46F2F7-0BFC-56D2-75E6-D81FBC9F2771}"/>
              </a:ext>
            </a:extLst>
          </p:cNvPr>
          <p:cNvSpPr/>
          <p:nvPr/>
        </p:nvSpPr>
        <p:spPr>
          <a:xfrm>
            <a:off x="1176414" y="545118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Continuing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b0, b1, b2…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b0 = b0 -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alpha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* (1/m) * Σ (^y - y)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b1 = b1 -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alpha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* (1/m) * Σ (^y - y) *x1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b2 = b2 -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alpha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* (1/m) * Σ (^y - y) *x2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24669A-4BB5-AECC-7E2B-59264CFCE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414" y="3174222"/>
            <a:ext cx="2979950" cy="162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785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8D79B-4411-8F61-0718-D6F26E054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391F1A-20D0-5BA2-EFFB-FCE7F612F6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 Regression by Stochastic Gradient Descent</a:t>
            </a:r>
            <a:br>
              <a:rPr lang="en-US" dirty="0"/>
            </a:br>
            <a:r>
              <a:rPr lang="en-US" dirty="0"/>
              <a:t>Problem Statement 1- for one Epoch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55CBB40-402E-1710-8817-D59754EF5B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0294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22081-8E94-8F1B-0CD3-9466146B7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A755C-3154-B3A0-46F4-DE7EA73B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data - Problem Statement 1</a:t>
            </a:r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96671C8D-C7B7-5B9D-52F4-E393774254D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39905" y="2699684"/>
          <a:ext cx="4169403" cy="2287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477">
                  <a:extLst>
                    <a:ext uri="{9D8B030D-6E8A-4147-A177-3AD203B41FA5}">
                      <a16:colId xmlns:a16="http://schemas.microsoft.com/office/drawing/2014/main" val="219154207"/>
                    </a:ext>
                  </a:extLst>
                </a:gridCol>
                <a:gridCol w="1911926">
                  <a:extLst>
                    <a:ext uri="{9D8B030D-6E8A-4147-A177-3AD203B41FA5}">
                      <a16:colId xmlns:a16="http://schemas.microsoft.com/office/drawing/2014/main" val="51212720"/>
                    </a:ext>
                  </a:extLst>
                </a:gridCol>
              </a:tblGrid>
              <a:tr h="457590">
                <a:tc>
                  <a:txBody>
                    <a:bodyPr/>
                    <a:lstStyle/>
                    <a:p>
                      <a:r>
                        <a:rPr lang="en-IN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3180"/>
                  </a:ext>
                </a:extLst>
              </a:tr>
              <a:tr h="45759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365566"/>
                  </a:ext>
                </a:extLst>
              </a:tr>
              <a:tr h="45759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467830"/>
                  </a:ext>
                </a:extLst>
              </a:tr>
              <a:tr h="45759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942476"/>
                  </a:ext>
                </a:extLst>
              </a:tr>
              <a:tr h="45759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386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1069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39B15-F523-AC0A-F5A2-B3C49F76E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SGD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2B0E1D-DC3A-D99C-3AB4-7F9E57EB68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IN" b="1" dirty="0"/>
                  <a:t>Given: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[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Initial coefficients: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Learning rate: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Logistic function (sigmoid):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pPr>
                  <a:buNone/>
                </a:pPr>
                <a:r>
                  <a:rPr lang="en-IN" b="1" dirty="0"/>
                  <a:t>Stochastic gradient descent (SGD) - </a:t>
                </a:r>
                <a:r>
                  <a:rPr lang="en-IN" dirty="0"/>
                  <a:t>update </a:t>
                </a:r>
                <a:r>
                  <a:rPr lang="en-IN" b="1" dirty="0"/>
                  <a:t>after each data point</a:t>
                </a:r>
              </a:p>
              <a:p>
                <a:pPr>
                  <a:buNone/>
                </a:pPr>
                <a:r>
                  <a:rPr lang="en-IN" b="1" dirty="0"/>
                  <a:t>For one epoch</a:t>
                </a:r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2B0E1D-DC3A-D99C-3AB4-7F9E57EB68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8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0234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97F8-6A91-A22B-C056-30E9EE491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1418"/>
          </a:xfrm>
        </p:spPr>
        <p:txBody>
          <a:bodyPr>
            <a:normAutofit fontScale="90000"/>
          </a:bodyPr>
          <a:lstStyle/>
          <a:p>
            <a:r>
              <a:rPr lang="en-IN" dirty="0"/>
              <a:t>SGD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36C071-90FA-1588-E0A8-B448B2B4C5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087" y="1187586"/>
            <a:ext cx="5201375" cy="22913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DD6E40-DB12-2CA0-02C8-F822D9631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631" y="1187586"/>
            <a:ext cx="4553585" cy="2407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D06F28-AC6B-A722-A94E-75C56A17A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58" y="4024329"/>
            <a:ext cx="5201376" cy="22913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FEEB69-69DD-A0BC-1D3D-3119A92723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894" y="4024329"/>
            <a:ext cx="4639322" cy="229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2271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8A81-DCF8-AD8A-89B1-DFCAB9EAE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3562"/>
          </a:xfrm>
        </p:spPr>
        <p:txBody>
          <a:bodyPr/>
          <a:lstStyle/>
          <a:p>
            <a:r>
              <a:rPr lang="en-IN" dirty="0"/>
              <a:t>SGD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F4495D-803B-5491-1B1B-688A1CE18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548" y="2199736"/>
            <a:ext cx="11712903" cy="36437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FA2087-710D-0143-50BB-8890C588D04D}"/>
                  </a:ext>
                </a:extLst>
              </p:cNvPr>
              <p:cNvSpPr txBox="1"/>
              <p:nvPr/>
            </p:nvSpPr>
            <p:spPr>
              <a:xfrm>
                <a:off x="838200" y="6082145"/>
                <a:ext cx="82919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New coefficients after Epoch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𝑏</m:t>
                        </m:r>
                      </m:e>
                      <m: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≈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0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.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00018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𝑏</m:t>
                        </m:r>
                      </m:e>
                      <m: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≈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0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.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02051</m:t>
                    </m:r>
                  </m:oMath>
                </a14:m>
                <a:endParaRPr kumimoji="0" lang="ar-A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FA2087-710D-0143-50BB-8890C588D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082145"/>
                <a:ext cx="8291945" cy="369332"/>
              </a:xfrm>
              <a:prstGeom prst="rect">
                <a:avLst/>
              </a:prstGeom>
              <a:blipFill>
                <a:blip r:embed="rId3"/>
                <a:stretch>
                  <a:fillRect l="-662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80608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B38B-0750-E47C-F95F-8FA2071B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Loss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4A2A3-AA7E-1F90-2033-EA9694C53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b="1" dirty="0"/>
              <a:t>Logistic Regression</a:t>
            </a:r>
            <a:r>
              <a:rPr lang="en-US" dirty="0"/>
              <a:t>, the </a:t>
            </a:r>
            <a:r>
              <a:rPr lang="en-US" b="1" dirty="0"/>
              <a:t>loss </a:t>
            </a:r>
            <a:r>
              <a:rPr lang="en-US" dirty="0"/>
              <a:t>is computed using the </a:t>
            </a:r>
            <a:r>
              <a:rPr lang="en-US" b="1" dirty="0"/>
              <a:t>Binary Cross-Entropy (Log Loss) formula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At the end of each epoch, we use the updated coefficients to recompute z and y^​=σ(z) for all data points. </a:t>
            </a:r>
          </a:p>
          <a:p>
            <a:r>
              <a:rPr lang="en-US" dirty="0"/>
              <a:t>We then calculate the loss for each data point and take the average to obtain the loss for that epoch.</a:t>
            </a:r>
          </a:p>
          <a:p>
            <a:r>
              <a:rPr lang="en-US" dirty="0"/>
              <a:t>Loss for each instance ⟶Average ⟶ Epoch-end Loss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7125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2E5810-45E2-67F5-612E-321EAA34D7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5610" y="1008490"/>
            <a:ext cx="9166763" cy="515904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5A00A5-D25D-4DC4-851E-FC5456698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775" y="399956"/>
            <a:ext cx="3800328" cy="153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4758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311B1B-B8A5-4868-808D-0FB37997D7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 Regression by Batch Gradient Descent</a:t>
            </a:r>
            <a:br>
              <a:rPr lang="en-US" dirty="0"/>
            </a:br>
            <a:r>
              <a:rPr lang="en-US" dirty="0"/>
              <a:t>Problem Statement 1 - for four Epochs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1263EAE-756C-47FC-B76C-A83F9FAFE7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20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8804-2A08-3380-0808-D2822CC19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7298"/>
          </a:xfrm>
        </p:spPr>
        <p:txBody>
          <a:bodyPr>
            <a:normAutofit fontScale="90000"/>
          </a:bodyPr>
          <a:lstStyle/>
          <a:p>
            <a:r>
              <a:rPr lang="en-US" dirty="0"/>
              <a:t>SGD vs. BGD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24F6B-F481-46AA-FDAD-A487A99B9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853"/>
            <a:ext cx="10515600" cy="51040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/>
              <a:t>If there are 100 training examples, SGD updates the parameters 100 times per epoch, while BGD updates the parameters 1 time per epoch, .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B0F0"/>
                </a:solidFill>
              </a:rPr>
              <a:t>SGD:</a:t>
            </a:r>
          </a:p>
          <a:p>
            <a:pPr marL="0" indent="0">
              <a:buNone/>
            </a:pPr>
            <a:r>
              <a:rPr lang="en-US" sz="2200" dirty="0"/>
              <a:t>Example 1 ──&gt; UPDATE</a:t>
            </a:r>
          </a:p>
          <a:p>
            <a:pPr marL="0" indent="0">
              <a:buNone/>
            </a:pPr>
            <a:r>
              <a:rPr lang="en-US" sz="2200" dirty="0"/>
              <a:t>Example 2 ──&gt; UPDATE</a:t>
            </a:r>
          </a:p>
          <a:p>
            <a:pPr marL="0" indent="0">
              <a:buNone/>
            </a:pPr>
            <a:r>
              <a:rPr lang="en-US" sz="2200" dirty="0"/>
              <a:t>Example 3 ──&gt; UPDATE</a:t>
            </a:r>
          </a:p>
          <a:p>
            <a:pPr marL="0" indent="0">
              <a:buNone/>
            </a:pPr>
            <a:r>
              <a:rPr lang="en-US" sz="2200" dirty="0"/>
              <a:t>...</a:t>
            </a:r>
          </a:p>
          <a:p>
            <a:pPr marL="0" indent="0">
              <a:buNone/>
            </a:pPr>
            <a:r>
              <a:rPr lang="en-US" sz="2200" dirty="0"/>
              <a:t>Example m ──&gt; UPDATE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ea typeface="+mn-ea"/>
                <a:cs typeface="+mn-cs"/>
              </a:rPr>
              <a:t>BGD: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Example 1 ─┐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Example 2  │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Example 3  ├── calculate gradients ──&gt; UPDATE b0, b1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...        │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Example m ─┘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4203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4D7E-0FD7-40C2-AA82-16B22569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BGD - Update equations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64CF37-1576-49A6-BCC2-D136D84403BC}"/>
              </a:ext>
            </a:extLst>
          </p:cNvPr>
          <p:cNvSpPr txBox="1"/>
          <p:nvPr/>
        </p:nvSpPr>
        <p:spPr>
          <a:xfrm>
            <a:off x="954740" y="1721624"/>
            <a:ext cx="101121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 the gradient over all examples, then update 𝑏0 and b1	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 = total number of training examples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α = learning rate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9A1475-BD90-45D1-B0E0-7D7CF9EE286D}"/>
              </a:ext>
            </a:extLst>
          </p:cNvPr>
          <p:cNvSpPr/>
          <p:nvPr/>
        </p:nvSpPr>
        <p:spPr>
          <a:xfrm>
            <a:off x="1176414" y="545118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Continuing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b0, b1, b2…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b0 = b0 -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alpha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* (1/m) * Σ (^y - y)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b1 = b1 -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alpha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* (1/m) * Σ (^y - y) *x1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b2 = b2 -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alpha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* (1/m) * Σ (^y - y) *x2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E9892-7B40-FA5A-2F76-6B1C18FB6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414" y="3174222"/>
            <a:ext cx="2979950" cy="162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8884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4EAF1-C29C-9C61-D3DE-B7CEF032D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064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Linear Regression using SGD vs. BGD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E8236-F098-ED7A-FE5E-7F825ACCC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0831"/>
            <a:ext cx="7063597" cy="5512279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dirty="0"/>
              <a:t>Model is y^​=b0​+b1​x </a:t>
            </a:r>
          </a:p>
          <a:p>
            <a:pPr>
              <a:buNone/>
            </a:pPr>
            <a:r>
              <a:rPr lang="en-US" sz="1800" b="1" dirty="0"/>
              <a:t>In SGD</a:t>
            </a:r>
            <a:r>
              <a:rPr lang="en-US" sz="1800" dirty="0"/>
              <a:t>, </a:t>
            </a:r>
            <a:r>
              <a:rPr lang="en-US" sz="1800" dirty="0">
                <a:latin typeface="Courier New" panose="02070309020205020404" pitchFamily="49" charset="0"/>
              </a:rPr>
              <a:t>b0</a:t>
            </a:r>
            <a:r>
              <a:rPr lang="en-US" sz="1800" dirty="0"/>
              <a:t> and </a:t>
            </a:r>
            <a:r>
              <a:rPr lang="en-US" sz="1800" dirty="0">
                <a:latin typeface="Courier New" panose="02070309020205020404" pitchFamily="49" charset="0"/>
              </a:rPr>
              <a:t>b1</a:t>
            </a:r>
            <a:r>
              <a:rPr lang="en-US" sz="1800" dirty="0"/>
              <a:t> are updated after </a:t>
            </a:r>
            <a:r>
              <a:rPr lang="en-US" sz="1800" b="1" dirty="0"/>
              <a:t>each individual training example</a:t>
            </a:r>
            <a:r>
              <a:rPr lang="en-US" sz="1800" dirty="0"/>
              <a:t>.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b="1" dirty="0"/>
          </a:p>
          <a:p>
            <a:pPr>
              <a:buNone/>
            </a:pPr>
            <a:r>
              <a:rPr lang="en-US" sz="1800" b="1" dirty="0"/>
              <a:t>BGD: </a:t>
            </a:r>
            <a:r>
              <a:rPr lang="en-US" sz="1800" dirty="0"/>
              <a:t>In BGD, b0 and b1 are updated once after processing all training examples (once per epoch).</a:t>
            </a:r>
          </a:p>
          <a:p>
            <a:pPr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for epoch in range(</a:t>
            </a:r>
            <a:r>
              <a:rPr lang="en-US" sz="1800" dirty="0" err="1"/>
              <a:t>num_epochs</a:t>
            </a:r>
            <a:r>
              <a:rPr lang="en-US" sz="1800" dirty="0"/>
              <a:t>):</a:t>
            </a:r>
          </a:p>
          <a:p>
            <a:pPr marL="0" indent="0">
              <a:buNone/>
            </a:pPr>
            <a:r>
              <a:rPr lang="en-US" sz="1800" dirty="0"/>
              <a:t>    for </a:t>
            </a:r>
            <a:r>
              <a:rPr lang="en-US" sz="1800" dirty="0" err="1"/>
              <a:t>i</a:t>
            </a:r>
            <a:r>
              <a:rPr lang="en-US" sz="1800" dirty="0"/>
              <a:t> in range(m):  # loop over each training example</a:t>
            </a:r>
          </a:p>
          <a:p>
            <a:pPr marL="0" indent="0">
              <a:buNone/>
            </a:pPr>
            <a:r>
              <a:rPr lang="en-US" sz="1800" dirty="0"/>
              <a:t>         </a:t>
            </a:r>
            <a:r>
              <a:rPr lang="en-US" sz="1800" dirty="0" err="1"/>
              <a:t>y_hat</a:t>
            </a:r>
            <a:r>
              <a:rPr lang="en-US" sz="1800" dirty="0"/>
              <a:t> = b0 + b1 * x[</a:t>
            </a:r>
            <a:r>
              <a:rPr lang="en-US" sz="1800" dirty="0" err="1"/>
              <a:t>i</a:t>
            </a:r>
            <a:r>
              <a:rPr lang="en-US" sz="1800" dirty="0"/>
              <a:t>]</a:t>
            </a:r>
          </a:p>
          <a:p>
            <a:pPr marL="0" indent="0">
              <a:buNone/>
            </a:pPr>
            <a:r>
              <a:rPr lang="en-US" sz="1800" dirty="0"/>
              <a:t>         error = </a:t>
            </a:r>
            <a:r>
              <a:rPr lang="en-US" sz="1800" dirty="0" err="1"/>
              <a:t>y_hat</a:t>
            </a:r>
            <a:r>
              <a:rPr lang="en-US" sz="1800" dirty="0"/>
              <a:t> - y[</a:t>
            </a:r>
            <a:r>
              <a:rPr lang="en-US" sz="1800" dirty="0" err="1"/>
              <a:t>i</a:t>
            </a:r>
            <a:r>
              <a:rPr lang="en-US" sz="1800" dirty="0"/>
              <a:t>]</a:t>
            </a:r>
          </a:p>
          <a:p>
            <a:pPr marL="0" indent="0">
              <a:buNone/>
            </a:pPr>
            <a:r>
              <a:rPr lang="en-US" sz="1800" dirty="0"/>
              <a:t>        b0 = b0 - alpha * error</a:t>
            </a:r>
          </a:p>
          <a:p>
            <a:pPr marL="0" indent="0">
              <a:buNone/>
            </a:pPr>
            <a:r>
              <a:rPr lang="en-US" sz="1800" dirty="0"/>
              <a:t>        b1 = b1 - alpha * error * x[</a:t>
            </a:r>
            <a:r>
              <a:rPr lang="en-US" sz="1800" dirty="0" err="1"/>
              <a:t>i</a:t>
            </a:r>
            <a:r>
              <a:rPr lang="en-US" sz="1800" dirty="0"/>
              <a:t>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929C8-8F64-B912-9EBC-CA7F40762574}"/>
              </a:ext>
            </a:extLst>
          </p:cNvPr>
          <p:cNvSpPr txBox="1"/>
          <p:nvPr/>
        </p:nvSpPr>
        <p:spPr>
          <a:xfrm>
            <a:off x="6668218" y="2160310"/>
            <a:ext cx="540013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epoch in range(</a:t>
            </a:r>
            <a:r>
              <a:rPr lang="en-US" dirty="0" err="1"/>
              <a:t>num_epochs</a:t>
            </a:r>
            <a:r>
              <a:rPr lang="en-US" dirty="0"/>
              <a:t>):</a:t>
            </a:r>
          </a:p>
          <a:p>
            <a:r>
              <a:rPr lang="en-US" dirty="0"/>
              <a:t>    sum_error_b0 = 0  # reset at the start of each epoch</a:t>
            </a:r>
          </a:p>
          <a:p>
            <a:r>
              <a:rPr lang="en-US" dirty="0"/>
              <a:t>    sum_error_b1 = 0  # reset at the start of each epoch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range(m):  # loop over all training examples</a:t>
            </a:r>
          </a:p>
          <a:p>
            <a:r>
              <a:rPr lang="en-US" dirty="0"/>
              <a:t>        </a:t>
            </a:r>
            <a:r>
              <a:rPr lang="en-US" dirty="0" err="1"/>
              <a:t>y_hat</a:t>
            </a:r>
            <a:r>
              <a:rPr lang="en-US" dirty="0"/>
              <a:t> = b0 + b1 * x[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r>
              <a:rPr lang="en-US" dirty="0"/>
              <a:t>        error = </a:t>
            </a:r>
            <a:r>
              <a:rPr lang="en-US" dirty="0" err="1"/>
              <a:t>y_hat</a:t>
            </a:r>
            <a:r>
              <a:rPr lang="en-US" dirty="0"/>
              <a:t> - y[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r>
              <a:rPr lang="en-US" dirty="0"/>
              <a:t>        sum_error_b0 += error</a:t>
            </a:r>
          </a:p>
          <a:p>
            <a:r>
              <a:rPr lang="en-US" dirty="0"/>
              <a:t>        sum_error_b1 += error * x[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# Update parameters after summing over the batch</a:t>
            </a:r>
          </a:p>
          <a:p>
            <a:r>
              <a:rPr lang="en-US" dirty="0"/>
              <a:t>    b0 = b0 - alpha * (sum_error_b0 / m)</a:t>
            </a:r>
          </a:p>
          <a:p>
            <a:r>
              <a:rPr lang="en-US" dirty="0"/>
              <a:t>    b1 = b1 - alpha * (sum_error_b1 / m)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4190FD-DE8F-13E0-3F33-FD1EA52CC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280" y="3242263"/>
            <a:ext cx="2330349" cy="1226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6F11CD-299B-BAAD-752D-7A200B6AD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661" y="1941905"/>
            <a:ext cx="1831968" cy="72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6884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FCD5-5180-6A39-57AE-A5F54C101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solidFill>
                  <a:prstClr val="black"/>
                </a:solidFill>
              </a:rPr>
              <a:t>Logistic Regression using 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SGD </a:t>
            </a:r>
            <a:r>
              <a:rPr kumimoji="0" lang="en-IN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vs BGD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F3C77-5D58-039F-CB33-F6631B965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38313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for epoch in range(</a:t>
            </a:r>
            <a:r>
              <a:rPr lang="en-US" dirty="0" err="1"/>
              <a:t>num_epochs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range(m):</a:t>
            </a:r>
          </a:p>
          <a:p>
            <a:pPr marL="0" indent="0">
              <a:buNone/>
            </a:pPr>
            <a:r>
              <a:rPr lang="en-US" dirty="0"/>
              <a:t>        # Linear combination</a:t>
            </a:r>
          </a:p>
          <a:p>
            <a:pPr marL="0" indent="0">
              <a:buNone/>
            </a:pPr>
            <a:r>
              <a:rPr lang="en-US" dirty="0"/>
              <a:t>        z = b0 + b1 * x[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        # Sigmoid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y_hat</a:t>
            </a:r>
            <a:r>
              <a:rPr lang="en-US" dirty="0"/>
              <a:t> = 1 / (1 + </a:t>
            </a:r>
            <a:r>
              <a:rPr lang="en-US" dirty="0" err="1"/>
              <a:t>np.exp</a:t>
            </a:r>
            <a:r>
              <a:rPr lang="en-US" dirty="0"/>
              <a:t>(-z))</a:t>
            </a:r>
          </a:p>
          <a:p>
            <a:pPr marL="0" indent="0">
              <a:buNone/>
            </a:pPr>
            <a:r>
              <a:rPr lang="en-US" dirty="0"/>
              <a:t>        # Error</a:t>
            </a:r>
          </a:p>
          <a:p>
            <a:pPr marL="0" indent="0">
              <a:buNone/>
            </a:pPr>
            <a:r>
              <a:rPr lang="en-US" dirty="0"/>
              <a:t>        error = </a:t>
            </a:r>
            <a:r>
              <a:rPr lang="en-US" dirty="0" err="1"/>
              <a:t>y_hat</a:t>
            </a:r>
            <a:r>
              <a:rPr lang="en-US" dirty="0"/>
              <a:t> - y[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        # Update immediately</a:t>
            </a:r>
          </a:p>
          <a:p>
            <a:pPr marL="0" indent="0">
              <a:buNone/>
            </a:pPr>
            <a:r>
              <a:rPr lang="en-US" dirty="0"/>
              <a:t>        b0 = b0 - alpha * error</a:t>
            </a:r>
          </a:p>
          <a:p>
            <a:pPr marL="0" indent="0">
              <a:buNone/>
            </a:pPr>
            <a:r>
              <a:rPr lang="en-US" dirty="0"/>
              <a:t>        b1 = b1 - alpha * error * x[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44EACE-840F-4F38-8CA0-58FB1AED0EC6}"/>
              </a:ext>
            </a:extLst>
          </p:cNvPr>
          <p:cNvSpPr txBox="1"/>
          <p:nvPr/>
        </p:nvSpPr>
        <p:spPr>
          <a:xfrm>
            <a:off x="6521570" y="1690688"/>
            <a:ext cx="49788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epoch in range(</a:t>
            </a:r>
            <a:r>
              <a:rPr lang="en-US" dirty="0" err="1"/>
              <a:t>num_epochs</a:t>
            </a:r>
            <a:r>
              <a:rPr lang="en-US" dirty="0"/>
              <a:t>):</a:t>
            </a:r>
          </a:p>
          <a:p>
            <a:r>
              <a:rPr lang="en-US" dirty="0"/>
              <a:t>    sum_error_b0 = 0</a:t>
            </a:r>
          </a:p>
          <a:p>
            <a:r>
              <a:rPr lang="en-US" dirty="0"/>
              <a:t>    sum_error_b1 = 0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range(m):</a:t>
            </a:r>
          </a:p>
          <a:p>
            <a:r>
              <a:rPr lang="en-US" dirty="0"/>
              <a:t>        # Linear combination</a:t>
            </a:r>
          </a:p>
          <a:p>
            <a:r>
              <a:rPr lang="en-US" dirty="0"/>
              <a:t>        z = b0 + b1 * x[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r>
              <a:rPr lang="en-US" dirty="0"/>
              <a:t>        # Sigmoid</a:t>
            </a:r>
          </a:p>
          <a:p>
            <a:r>
              <a:rPr lang="en-US" dirty="0"/>
              <a:t>        </a:t>
            </a:r>
            <a:r>
              <a:rPr lang="en-US" dirty="0" err="1"/>
              <a:t>y_hat</a:t>
            </a:r>
            <a:r>
              <a:rPr lang="en-US" dirty="0"/>
              <a:t> = 1 / (1 + </a:t>
            </a:r>
            <a:r>
              <a:rPr lang="en-US" dirty="0" err="1"/>
              <a:t>np.exp</a:t>
            </a:r>
            <a:r>
              <a:rPr lang="en-US" dirty="0"/>
              <a:t>(-z))</a:t>
            </a:r>
          </a:p>
          <a:p>
            <a:r>
              <a:rPr lang="en-US" dirty="0"/>
              <a:t>        # Error</a:t>
            </a:r>
          </a:p>
          <a:p>
            <a:r>
              <a:rPr lang="en-US" dirty="0"/>
              <a:t>        error = </a:t>
            </a:r>
            <a:r>
              <a:rPr lang="en-US" dirty="0" err="1"/>
              <a:t>y_hat</a:t>
            </a:r>
            <a:r>
              <a:rPr lang="en-US" dirty="0"/>
              <a:t> - y[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r>
              <a:rPr lang="en-US" dirty="0"/>
              <a:t>        # Accumulate gradients</a:t>
            </a:r>
          </a:p>
          <a:p>
            <a:r>
              <a:rPr lang="en-US" dirty="0"/>
              <a:t>        sum_error_b0 += error</a:t>
            </a:r>
          </a:p>
          <a:p>
            <a:r>
              <a:rPr lang="en-US" dirty="0"/>
              <a:t>        sum_error_b1 += error * x[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r>
              <a:rPr lang="en-US" dirty="0"/>
              <a:t>    # Update after all examples</a:t>
            </a:r>
          </a:p>
          <a:p>
            <a:r>
              <a:rPr lang="en-US" dirty="0"/>
              <a:t>    b0 = b0 - alpha * (sum_error_b0 / m)</a:t>
            </a:r>
          </a:p>
          <a:p>
            <a:r>
              <a:rPr lang="en-US" dirty="0"/>
              <a:t>    b1 = b1 - alpha * (sum_error_b1 / m)</a:t>
            </a:r>
          </a:p>
        </p:txBody>
      </p:sp>
    </p:spTree>
    <p:extLst>
      <p:ext uri="{BB962C8B-B14F-4D97-AF65-F5344CB8AC3E}">
        <p14:creationId xmlns:p14="http://schemas.microsoft.com/office/powerpoint/2010/main" val="432377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CD89D-298D-4737-9F30-F219EB42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data - Problem Statement 1</a:t>
            </a:r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6236B32A-622C-4E23-A984-D0E68B0471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3775262"/>
              </p:ext>
            </p:extLst>
          </p:nvPr>
        </p:nvGraphicFramePr>
        <p:xfrm>
          <a:off x="1039905" y="2438400"/>
          <a:ext cx="4834422" cy="2549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7544">
                  <a:extLst>
                    <a:ext uri="{9D8B030D-6E8A-4147-A177-3AD203B41FA5}">
                      <a16:colId xmlns:a16="http://schemas.microsoft.com/office/drawing/2014/main" val="219154207"/>
                    </a:ext>
                  </a:extLst>
                </a:gridCol>
                <a:gridCol w="2216878">
                  <a:extLst>
                    <a:ext uri="{9D8B030D-6E8A-4147-A177-3AD203B41FA5}">
                      <a16:colId xmlns:a16="http://schemas.microsoft.com/office/drawing/2014/main" val="51212720"/>
                    </a:ext>
                  </a:extLst>
                </a:gridCol>
              </a:tblGrid>
              <a:tr h="509847">
                <a:tc>
                  <a:txBody>
                    <a:bodyPr/>
                    <a:lstStyle/>
                    <a:p>
                      <a:r>
                        <a:rPr lang="en-IN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3180"/>
                  </a:ext>
                </a:extLst>
              </a:tr>
              <a:tr h="509847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365566"/>
                  </a:ext>
                </a:extLst>
              </a:tr>
              <a:tr h="509847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467830"/>
                  </a:ext>
                </a:extLst>
              </a:tr>
              <a:tr h="509847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942476"/>
                  </a:ext>
                </a:extLst>
              </a:tr>
              <a:tr h="509847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386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485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30A82-0F32-42FE-8E8F-A06D4CACC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by Batch Gradient Descent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57EF7-ACE5-4458-9E13-4180D8C04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1. Initialize Coefficients: B0= 0, B1=0, alpha=0.01</a:t>
            </a:r>
          </a:p>
          <a:p>
            <a:pPr marL="0" indent="0">
              <a:buNone/>
            </a:pPr>
            <a:r>
              <a:rPr lang="en-IN" dirty="0"/>
              <a:t>2. Perform BGD</a:t>
            </a:r>
          </a:p>
          <a:p>
            <a:pPr marL="0" indent="0">
              <a:buNone/>
            </a:pPr>
            <a:r>
              <a:rPr lang="en-IN" dirty="0"/>
              <a:t>2.1 Calculate z = B0+B1*x1</a:t>
            </a:r>
          </a:p>
          <a:p>
            <a:pPr marL="0" indent="0">
              <a:buNone/>
            </a:pPr>
            <a:r>
              <a:rPr lang="en-IN" dirty="0"/>
              <a:t>2.2 Apply the sigmoid function to get the prediction P(y=1|x)= 1/(1+e^(-z))</a:t>
            </a:r>
          </a:p>
          <a:p>
            <a:pPr marL="0" indent="0">
              <a:buNone/>
            </a:pPr>
            <a:r>
              <a:rPr lang="en-IN" dirty="0"/>
              <a:t>2.3 update the coefficients using Batch Gradient Descent Update Equation</a:t>
            </a:r>
          </a:p>
          <a:p>
            <a:pPr marL="0" indent="0">
              <a:buNone/>
            </a:pPr>
            <a:r>
              <a:rPr lang="en-IN" dirty="0"/>
              <a:t>b0 = b0 - alpha * (1/m) * </a:t>
            </a:r>
            <a:r>
              <a:rPr lang="el-GR" dirty="0"/>
              <a:t>Σ</a:t>
            </a:r>
            <a:r>
              <a:rPr lang="en-IN" dirty="0"/>
              <a:t> (^y - y) </a:t>
            </a:r>
          </a:p>
          <a:p>
            <a:pPr marL="0" indent="0">
              <a:buNone/>
            </a:pPr>
            <a:r>
              <a:rPr lang="en-IN" dirty="0"/>
              <a:t>b1 = b1 - alpha * (1/m) * </a:t>
            </a:r>
            <a:r>
              <a:rPr lang="el-GR" dirty="0"/>
              <a:t>Σ</a:t>
            </a:r>
            <a:r>
              <a:rPr lang="en-IN" dirty="0"/>
              <a:t> (^y - y) *x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328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B0DE5-D7D7-9BCD-119A-E18F69974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5365D-4AB5-A7B0-A3FF-D3FFD99AC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366"/>
          </a:xfrm>
        </p:spPr>
        <p:txBody>
          <a:bodyPr/>
          <a:lstStyle/>
          <a:p>
            <a:r>
              <a:rPr lang="en-US" dirty="0"/>
              <a:t>Logistic Regression by Batch Gradient Descent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A3DBBD-CEBB-8614-8000-9772C59A4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0036" y="1690688"/>
            <a:ext cx="9606525" cy="467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7227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0B30E37-4022-18D0-6D7E-67620BC5FDE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Epoch 1 - start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0B30E37-4022-18D0-6D7E-67620BC5FD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66FA80-7B30-0732-1856-D807A0E02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59453" y="2202873"/>
            <a:ext cx="10543492" cy="33666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62C492-1E62-C02E-81CA-6E54C1EC0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70" y="5656055"/>
            <a:ext cx="6623250" cy="11243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9BA223-673C-B2F5-6E44-6117BA4A1581}"/>
              </a:ext>
            </a:extLst>
          </p:cNvPr>
          <p:cNvSpPr txBox="1"/>
          <p:nvPr/>
        </p:nvSpPr>
        <p:spPr>
          <a:xfrm>
            <a:off x="7170120" y="5656055"/>
            <a:ext cx="4475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SGD the coefficients change after each sample, while in BGD they should remain fixed until the whole batch has been processed</a:t>
            </a:r>
          </a:p>
        </p:txBody>
      </p:sp>
    </p:spTree>
    <p:extLst>
      <p:ext uri="{BB962C8B-B14F-4D97-AF65-F5344CB8AC3E}">
        <p14:creationId xmlns:p14="http://schemas.microsoft.com/office/powerpoint/2010/main" val="29864778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8C8E5-513B-CBAB-5389-EF1179B82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831F4AA-D87D-0519-5616-D267DAC3FF5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Epoch 1 - start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831F4AA-D87D-0519-5616-D267DAC3FF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9E54B03-331F-5C08-FBDB-3A11CE9B52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51709" y="1836407"/>
            <a:ext cx="8465127" cy="4403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AD5331-67FF-1A9A-7A37-2187BA7F2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559" y="2871510"/>
            <a:ext cx="2119441" cy="9821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FB0596-41D3-075A-19CB-6C79A2C21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784" y="1836407"/>
            <a:ext cx="5454930" cy="103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1700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C1D52-02F6-25E9-6695-51B787D46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93DF-E2D4-1A0A-E01A-7032F14AF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693"/>
          </a:xfrm>
        </p:spPr>
        <p:txBody>
          <a:bodyPr>
            <a:normAutofit/>
          </a:bodyPr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Logistic Regression by Batch Gradient Descent - Epoch 1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3C5200-5462-3BCE-E8BE-C1701957FE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94510"/>
                <a:ext cx="10515600" cy="5082454"/>
              </a:xfrm>
            </p:spPr>
            <p:txBody>
              <a:bodyPr>
                <a:normAutofit/>
              </a:bodyPr>
              <a:lstStyle/>
              <a:p>
                <a:r>
                  <a:rPr lang="en-IN" dirty="0"/>
                  <a:t>Compute the </a:t>
                </a:r>
                <a:r>
                  <a:rPr lang="en-IN" b="1" dirty="0"/>
                  <a:t>loss after update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b="0" i="1">
                        <a:latin typeface="Cambria Math" panose="02040503050406030204" pitchFamily="18" charset="0"/>
                      </a:rPr>
                      <m:t>  </m:t>
                    </m:r>
                    <m:sSub>
                      <m:sSub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005</m:t>
                    </m:r>
                  </m:oMath>
                </a14:m>
                <a:endParaRPr lang="en-IN" b="0" dirty="0"/>
              </a:p>
              <a:p>
                <a:endParaRPr lang="en-IN" dirty="0"/>
              </a:p>
              <a:p>
                <a:endParaRPr lang="en-IN" dirty="0"/>
              </a:p>
              <a:p>
                <a:pPr marL="0" indent="0">
                  <a:buNone/>
                </a:pPr>
                <a:r>
                  <a:rPr lang="en-IN" dirty="0">
                    <a:solidFill>
                      <a:srgbClr val="00B0F0"/>
                    </a:solidFill>
                  </a:rPr>
                  <a:t>Step 1: Predictions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3C5200-5462-3BCE-E8BE-C1701957FE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94510"/>
                <a:ext cx="10515600" cy="5082454"/>
              </a:xfrm>
              <a:blipFill>
                <a:blip r:embed="rId2"/>
                <a:stretch>
                  <a:fillRect l="-1217" t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82D93B1F-42AB-67EE-C2D5-7653F719E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693" y="3604098"/>
            <a:ext cx="9390034" cy="26224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60200E-D47B-3963-A7F4-39D81CF9C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633" y="1783550"/>
            <a:ext cx="4407126" cy="80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4905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FD3DE-EEF6-00ED-DA0A-184683FBC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Epoch 1 loss table – Average Loss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A65A20-85DD-3A1A-28FD-BE864B628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109" y="1979216"/>
            <a:ext cx="9781289" cy="42968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75D527-F47C-6EF0-3579-A01881AA0484}"/>
              </a:ext>
            </a:extLst>
          </p:cNvPr>
          <p:cNvSpPr txBox="1"/>
          <p:nvPr/>
        </p:nvSpPr>
        <p:spPr>
          <a:xfrm>
            <a:off x="1052423" y="1552755"/>
            <a:ext cx="5287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Step 2: Compute Loss per sample and Average Loss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362605-66D0-2B8C-4316-CBA5147BA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037" y="1548281"/>
            <a:ext cx="2286198" cy="80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62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6F8EEEC-D1F9-1A5D-AD87-C9925B36854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798657"/>
              </a:xfrm>
            </p:spPr>
            <p:txBody>
              <a:bodyPr/>
              <a:lstStyle/>
              <a:p>
                <a:r>
                  <a:rPr lang="en-IN" dirty="0"/>
                  <a:t>Epoch 2 - start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005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6F8EEEC-D1F9-1A5D-AD87-C9925B3685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798657"/>
              </a:xfrm>
              <a:blipFill>
                <a:blip r:embed="rId2"/>
                <a:stretch>
                  <a:fillRect l="-2377" t="-17557" b="-29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2E1399-C083-A4E7-9818-629F71CF2B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5745" y="1260764"/>
                <a:ext cx="11342082" cy="5347854"/>
              </a:xfrm>
            </p:spPr>
            <p:txBody>
              <a:bodyPr/>
              <a:lstStyle/>
              <a:p>
                <a:pPr>
                  <a:buNone/>
                </a:pPr>
                <a:r>
                  <a:rPr lang="en-IN" b="1" dirty="0"/>
                  <a:t>Using parameters from Epoch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005</m:t>
                    </m:r>
                  </m:oMath>
                </a14:m>
                <a:endParaRPr lang="en-IN" dirty="0"/>
              </a:p>
              <a:p>
                <a:pPr>
                  <a:buNone/>
                </a:pPr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2E1399-C083-A4E7-9818-629F71CF2B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745" y="1260764"/>
                <a:ext cx="11342082" cy="5347854"/>
              </a:xfrm>
              <a:blipFill>
                <a:blip r:embed="rId3"/>
                <a:stretch>
                  <a:fillRect l="-1129" t="-1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6F61112-AD09-89F0-797B-FF6D2F005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818" y="2174692"/>
            <a:ext cx="9975689" cy="412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169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A63F1-5BBD-37A4-41E4-F3B6B6DE7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66CC2B8-384D-EA82-2A95-9ADCAE62A7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798657"/>
              </a:xfrm>
            </p:spPr>
            <p:txBody>
              <a:bodyPr/>
              <a:lstStyle/>
              <a:p>
                <a:r>
                  <a:rPr lang="en-IN" dirty="0"/>
                  <a:t>Epoch 2 - start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005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66CC2B8-384D-EA82-2A95-9ADCAE62A7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798657"/>
              </a:xfrm>
              <a:blipFill>
                <a:blip r:embed="rId2"/>
                <a:stretch>
                  <a:fillRect l="-2377" t="-17557" b="-29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7ABC1E-43F2-DF97-6EDF-6DDB550863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5745" y="1260764"/>
                <a:ext cx="11342082" cy="5347854"/>
              </a:xfrm>
            </p:spPr>
            <p:txBody>
              <a:bodyPr/>
              <a:lstStyle/>
              <a:p>
                <a:pPr>
                  <a:buNone/>
                </a:pPr>
                <a:r>
                  <a:rPr lang="en-IN" b="1" dirty="0"/>
                  <a:t>Iteration 2: Using parameters from Iteration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005</m:t>
                    </m:r>
                  </m:oMath>
                </a14:m>
                <a:endParaRPr lang="en-IN" dirty="0"/>
              </a:p>
              <a:p>
                <a:pPr>
                  <a:buNone/>
                </a:pPr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7ABC1E-43F2-DF97-6EDF-6DDB550863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745" y="1260764"/>
                <a:ext cx="11342082" cy="5347854"/>
              </a:xfrm>
              <a:blipFill>
                <a:blip r:embed="rId3"/>
                <a:stretch>
                  <a:fillRect l="-1129" t="-19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1470DF5-CA4D-A0EE-4F32-4D83BC1A1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3164" y="2100076"/>
            <a:ext cx="8629395" cy="437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0747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D0F47-B88D-CA4D-BA63-E73F9B70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Epoch 2 loss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20CD74-C3EF-EA16-D5F9-E11BFD292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9233" y="1740217"/>
            <a:ext cx="8874177" cy="446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8688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DCDB0-8746-7DB3-5904-BEBA0788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Epoch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1261AB-D014-9603-D511-CF55A7C563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24309" cy="4351338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IN" b="1" dirty="0"/>
                  <a:t>Step 1: Parameters after Iteration 2 update</a:t>
                </a:r>
              </a:p>
              <a:p>
                <a:pPr>
                  <a:buNone/>
                </a:pPr>
                <a:r>
                  <a:rPr lang="en-IN" dirty="0"/>
                  <a:t>From Iteration 2,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≈−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00003125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00990625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Apply </a:t>
                </a:r>
                <a:r>
                  <a:rPr lang="en-IN" b="1" dirty="0"/>
                  <a:t>Batch Gradient Descent update</a:t>
                </a:r>
                <a:r>
                  <a:rPr lang="en-IN" dirty="0"/>
                  <a:t> again with learning rate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r>
                  <a:rPr lang="en-IN" dirty="0"/>
                  <a:t>.</a:t>
                </a:r>
              </a:p>
              <a:p>
                <a:pPr>
                  <a:buNone/>
                </a:pPr>
                <a:br>
                  <a:rPr lang="en-IN" dirty="0"/>
                </a:br>
                <a:endParaRPr lang="en-IN" dirty="0"/>
              </a:p>
              <a:p>
                <a:pPr>
                  <a:buNone/>
                </a:pPr>
                <a:r>
                  <a:rPr lang="en-IN" b="1" dirty="0"/>
                  <a:t>Step 2: Predictions and errors (Iteration 2 → 3 update)</a:t>
                </a:r>
              </a:p>
              <a:p>
                <a:pPr>
                  <a:buNone/>
                </a:pPr>
                <a:r>
                  <a:rPr lang="en-IN" dirty="0"/>
                  <a:t>For each sample: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ar-AE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1261AB-D014-9603-D511-CF55A7C563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24309" cy="4351338"/>
              </a:xfrm>
              <a:blipFill>
                <a:blip r:embed="rId2"/>
                <a:stretch>
                  <a:fillRect l="-1115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81041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DF3DC-87EF-6D55-515A-5F529413C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Epoch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9129D5-2AFC-DA3A-C7D5-CCC5B1A4C1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583" y="1678953"/>
            <a:ext cx="11168717" cy="438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7969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EF70C-7A62-7BF1-36C3-B86878B0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E2A67-E142-3257-DA0A-5B4CA2D8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Epoch 3 – Gradient Computation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854D63-FFC4-9322-BF63-B5668C902F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14307"/>
            <a:ext cx="8368146" cy="404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8669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578F2-6F41-C804-6137-417A9608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C642-5F03-16FB-3F70-467956A3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Epoch 3 - Parameter update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3C6FD0-81AA-BA11-ED5D-9E0CBD791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8541" y="2479964"/>
            <a:ext cx="9794918" cy="20976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FBDB05-8ADC-FE45-CE6D-894319926EA1}"/>
                  </a:ext>
                </a:extLst>
              </p:cNvPr>
              <p:cNvSpPr txBox="1"/>
              <p:nvPr/>
            </p:nvSpPr>
            <p:spPr>
              <a:xfrm>
                <a:off x="1496291" y="4934635"/>
                <a:ext cx="10058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After Iteration 3 update: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≈−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000093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014721</m:t>
                    </m:r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FBDB05-8ADC-FE45-CE6D-894319926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291" y="4934635"/>
                <a:ext cx="10058400" cy="369332"/>
              </a:xfrm>
              <a:prstGeom prst="rect">
                <a:avLst/>
              </a:prstGeom>
              <a:blipFill>
                <a:blip r:embed="rId3"/>
                <a:stretch>
                  <a:fillRect l="-485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83301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BA5E-D912-4424-F24A-C5DA5E0AB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Epoch 3  - Loss computation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78D2AA-868F-2BF3-3FD2-0C5099992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9309" y="1614763"/>
            <a:ext cx="9308664" cy="487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557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77A6E-6F77-1324-2199-716D57847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 of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EEC3D-B9D0-3898-A8BC-2BE1F6DB7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Iteration 1 start: 𝑏0=0,  𝑏1=0 → after update → </a:t>
            </a:r>
          </a:p>
          <a:p>
            <a:r>
              <a:rPr lang="en-IN" dirty="0"/>
              <a:t>𝑏0=0,  𝑏1=0.005</a:t>
            </a:r>
          </a:p>
          <a:p>
            <a:r>
              <a:rPr lang="en-IN" dirty="0"/>
              <a:t>Iteration 2 start: 𝑏0=0,  𝑏1=0.005 → after update → 𝑏0≈−0.00003,  𝑏1≈0.00991</a:t>
            </a:r>
          </a:p>
          <a:p>
            <a:r>
              <a:rPr lang="en-IN" dirty="0"/>
              <a:t>Iteration 3 start: 𝑏0≈−0.00003,  𝑏1≈0.00991 → after update → 𝑏0≈−0.000093,  𝑏1≈0.01472</a:t>
            </a:r>
          </a:p>
          <a:p>
            <a:r>
              <a:rPr lang="en-IN" dirty="0"/>
              <a:t>Iteration 4 start: 𝑏0≈−0.000093,  𝑏1≈0.01472</a:t>
            </a:r>
          </a:p>
        </p:txBody>
      </p:sp>
    </p:spTree>
    <p:extLst>
      <p:ext uri="{BB962C8B-B14F-4D97-AF65-F5344CB8AC3E}">
        <p14:creationId xmlns:p14="http://schemas.microsoft.com/office/powerpoint/2010/main" val="1561886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5B9A13E-6636-27C2-5876-BDBDF03FD89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3200" dirty="0"/>
                  <a:t>Epoch 4 :start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sz="32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3200" i="0">
                        <a:latin typeface="Cambria Math" panose="02040503050406030204" pitchFamily="18" charset="0"/>
                      </a:rPr>
                      <m:t>≈−</m:t>
                    </m:r>
                    <m:r>
                      <a:rPr lang="ar-AE" sz="3200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32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3200" i="0">
                        <a:latin typeface="Cambria Math" panose="02040503050406030204" pitchFamily="18" charset="0"/>
                      </a:rPr>
                      <m:t>000093</m:t>
                    </m:r>
                    <m:r>
                      <a:rPr lang="ar-AE" sz="3200" i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3200" b="0" i="1">
                        <a:latin typeface="Cambria Math" panose="02040503050406030204" pitchFamily="18" charset="0"/>
                      </a:rPr>
                      <m:t>  </m:t>
                    </m:r>
                    <m:sSub>
                      <m:sSubPr>
                        <m:ctrlPr>
                          <a:rPr lang="ar-AE" sz="3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sz="3200" b="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3200" b="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3200" b="0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3200" b="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3200" b="0" i="0">
                        <a:latin typeface="Cambria Math" panose="02040503050406030204" pitchFamily="18" charset="0"/>
                      </a:rPr>
                      <m:t>01472</m:t>
                    </m:r>
                  </m:oMath>
                </a14:m>
                <a:endParaRPr lang="en-IN" sz="32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5B9A13E-6636-27C2-5876-BDBDF03FD8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0C08C2-B9D8-B281-208F-E31462C09C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52187" y="2190786"/>
            <a:ext cx="10607928" cy="31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3364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04D065F-393F-3C6E-7818-F59CF0F28F2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3200" dirty="0"/>
                  <a:t>Epoch 4 :start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sz="3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3200">
                        <a:latin typeface="Cambria Math" panose="02040503050406030204" pitchFamily="18" charset="0"/>
                      </a:rPr>
                      <m:t>≈−</m:t>
                    </m:r>
                    <m:r>
                      <a:rPr lang="ar-AE" sz="32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32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3200">
                        <a:latin typeface="Cambria Math" panose="02040503050406030204" pitchFamily="18" charset="0"/>
                      </a:rPr>
                      <m:t>000093</m:t>
                    </m:r>
                    <m:r>
                      <a:rPr lang="ar-AE" sz="32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3200" i="1">
                        <a:latin typeface="Cambria Math" panose="02040503050406030204" pitchFamily="18" charset="0"/>
                      </a:rPr>
                      <m:t>  </m:t>
                    </m:r>
                    <m:sSub>
                      <m:sSub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sz="3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32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32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32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3200">
                        <a:latin typeface="Cambria Math" panose="02040503050406030204" pitchFamily="18" charset="0"/>
                      </a:rPr>
                      <m:t>01472</m:t>
                    </m:r>
                  </m:oMath>
                </a14:m>
                <a:endParaRPr lang="en-IN" sz="32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04D065F-393F-3C6E-7818-F59CF0F28F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364939-A438-64E7-6909-7BFF40D5E4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5236" y="2036048"/>
            <a:ext cx="9634344" cy="448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144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11012-3ABB-48DF-994A-35ABDAE9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Loss progression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062A311-DB60-A21C-7761-B2160C80F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5640" y="2175164"/>
            <a:ext cx="9544304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439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232F7-A8E3-619D-AE7F-56199861CB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Initial loss for both BGD and SGD - before any parameter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8E0F8F-71AB-D974-C8B9-9457354DFB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320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62BF-9D6D-2C54-17B1-3F4C5C65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430" y="500062"/>
            <a:ext cx="10515600" cy="1325563"/>
          </a:xfrm>
        </p:spPr>
        <p:txBody>
          <a:bodyPr/>
          <a:lstStyle/>
          <a:p>
            <a:r>
              <a:rPr lang="en-US" dirty="0"/>
              <a:t>How to compute the initial loss?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741F3-E83C-C885-56E4-EAA4AD42D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gradient descent, we often compute the loss at the end of each iteration (i.e., after parameters are updated).</a:t>
            </a:r>
          </a:p>
          <a:p>
            <a:r>
              <a:rPr lang="en-US" dirty="0"/>
              <a:t>The Epoch 0 loss is not mandatory — it is the initial baseline (before any updates). </a:t>
            </a:r>
          </a:p>
          <a:p>
            <a:r>
              <a:rPr lang="en-US" dirty="0"/>
              <a:t>We include it to show how much the loss drops immediately after the first update.</a:t>
            </a:r>
          </a:p>
          <a:p>
            <a:r>
              <a:rPr lang="en-US" dirty="0"/>
              <a:t>To illustrate convergence more clearly, computing Iteration 0 loss with 𝑏0=𝑏1=0 is done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78534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FDB7-84CE-56EF-027C-3F47890B7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91" y="157711"/>
            <a:ext cx="10515600" cy="604693"/>
          </a:xfrm>
        </p:spPr>
        <p:txBody>
          <a:bodyPr>
            <a:normAutofit fontScale="90000"/>
          </a:bodyPr>
          <a:lstStyle/>
          <a:p>
            <a:r>
              <a:rPr lang="en-US" dirty="0"/>
              <a:t>Initial Loss (Before Epoch 1)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9B0503-C2EA-376B-E3AF-3E06624599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83673"/>
                <a:ext cx="10515600" cy="5193290"/>
              </a:xfrm>
            </p:spPr>
            <p:txBody>
              <a:bodyPr/>
              <a:lstStyle/>
              <a:p>
                <a:r>
                  <a:rPr lang="en-IN" sz="2000" dirty="0"/>
                  <a:t>Epoch</a:t>
                </a:r>
                <a:r>
                  <a:rPr lang="en-IN" sz="2000" i="1" dirty="0"/>
                  <a:t> 0</a:t>
                </a:r>
                <a:r>
                  <a:rPr lang="en-IN" sz="2000" dirty="0"/>
                  <a:t> means </a:t>
                </a:r>
                <a:r>
                  <a:rPr lang="en-IN" sz="2000" b="1" dirty="0"/>
                  <a:t>before any gradient update</a:t>
                </a:r>
                <a:r>
                  <a:rPr lang="en-IN" sz="2000" dirty="0"/>
                  <a:t>, using the initial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20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000" i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2000" b="0" i="1">
                        <a:latin typeface="Cambria Math" panose="02040503050406030204" pitchFamily="18" charset="0"/>
                      </a:rPr>
                      <m:t>  </m:t>
                    </m:r>
                    <m:sSub>
                      <m:sSubPr>
                        <m:ctrlPr>
                          <a:rPr lang="ar-AE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sz="2000" b="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000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 b="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IN" sz="2000" dirty="0"/>
              </a:p>
              <a:p>
                <a:r>
                  <a:rPr lang="en-IN" sz="2000" dirty="0"/>
                  <a:t>loss is computed once at the very start (t = 0), prior to iteration 1.</a:t>
                </a:r>
              </a:p>
              <a:p>
                <a:r>
                  <a:rPr lang="en-IN" sz="2000" dirty="0"/>
                  <a:t>Model prediction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20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0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2000" dirty="0"/>
                  <a:t>: </a:t>
                </a:r>
                <a:r>
                  <a:rPr lang="en-IN" sz="2000" dirty="0"/>
                  <a:t>for every sample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9B0503-C2EA-376B-E3AF-3E06624599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83673"/>
                <a:ext cx="10515600" cy="5193290"/>
              </a:xfrm>
              <a:blipFill>
                <a:blip r:embed="rId2"/>
                <a:stretch>
                  <a:fillRect l="-522" t="-1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757D4D7-B285-FA3F-232C-CF3B17020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055" y="2211012"/>
            <a:ext cx="8449345" cy="437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1734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4EE26-4EE4-8441-C098-2CADA31CF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Loss (Before Epoch 1)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BDA279-BEDA-53D7-4372-3F15D2027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8585" y="1501259"/>
            <a:ext cx="9110057" cy="41009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3E1184-7649-B48E-23E6-9F518C7535F9}"/>
              </a:ext>
            </a:extLst>
          </p:cNvPr>
          <p:cNvSpPr txBox="1"/>
          <p:nvPr/>
        </p:nvSpPr>
        <p:spPr>
          <a:xfrm>
            <a:off x="715992" y="5589766"/>
            <a:ext cx="10748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Initial Loss (Before Any Gradient Update) : </a:t>
            </a:r>
            <a:r>
              <a:rPr lang="en-US" dirty="0"/>
              <a:t>At b0​=0, b1​=0, the initial loss is L(0)=0.693147. </a:t>
            </a:r>
          </a:p>
          <a:p>
            <a:r>
              <a:rPr lang="en-US" dirty="0"/>
              <a:t>Since no parameter update has occurred yet, this initial loss is the same starting baseline for both BGD and SGD</a:t>
            </a:r>
          </a:p>
        </p:txBody>
      </p:sp>
    </p:spTree>
    <p:extLst>
      <p:ext uri="{BB962C8B-B14F-4D97-AF65-F5344CB8AC3E}">
        <p14:creationId xmlns:p14="http://schemas.microsoft.com/office/powerpoint/2010/main" val="10315501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6833-D4EE-21C0-D9C8-F1C4E29396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SGD vs. BGD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BA194-E3E3-8B72-DF5B-DE9F3F25E6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593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1653-E8BB-655C-F19A-40D99938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Illustration of update frequency in BGD vs. SGD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22203-276C-BE11-6694-1798406E1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 Epoch = one complete pass over the entire training dataset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4E1A6C-EF0A-B49D-BFDE-B8CB9985D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35590"/>
              </p:ext>
            </p:extLst>
          </p:nvPr>
        </p:nvGraphicFramePr>
        <p:xfrm>
          <a:off x="1129146" y="2433393"/>
          <a:ext cx="105156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4679991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275407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58354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Algorithm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When updates happen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9374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10A9E4-B4ED-7C6A-8CFB-4AC7054D1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168010"/>
              </p:ext>
            </p:extLst>
          </p:nvPr>
        </p:nvGraphicFramePr>
        <p:xfrm>
          <a:off x="838200" y="4469679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4962904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319621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537923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Batch Gradient Descent (BGD)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After </a:t>
                      </a:r>
                      <a:r>
                        <a:rPr lang="en-US" b="1"/>
                        <a:t>processing all samples in the dataset</a:t>
                      </a:r>
                      <a:r>
                        <a:rPr lang="en-US"/>
                        <a:t> (i.e., at the end of the epoch)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Gradients are summed/averaged over all data points; coefficients updated </a:t>
                      </a:r>
                      <a:r>
                        <a:rPr lang="en-US" b="1" dirty="0"/>
                        <a:t>once per epoch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56975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813B91-6A71-5497-21B3-2C0FC5BBC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388917"/>
              </p:ext>
            </p:extLst>
          </p:nvPr>
        </p:nvGraphicFramePr>
        <p:xfrm>
          <a:off x="838200" y="3183776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673076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571495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370347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Stochastic Gradient Descent (SGD)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After </a:t>
                      </a:r>
                      <a:r>
                        <a:rPr lang="en-IN" b="1" dirty="0"/>
                        <a:t>each individual sample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Coefficients updated immediately for each data point; noisy but faster updates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3151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772A826-4967-5B02-FCD0-4D4193A99262}"/>
              </a:ext>
            </a:extLst>
          </p:cNvPr>
          <p:cNvSpPr txBox="1"/>
          <p:nvPr/>
        </p:nvSpPr>
        <p:spPr>
          <a:xfrm>
            <a:off x="189781" y="6054436"/>
            <a:ext cx="1125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In BGD, gradients are averaged over all m training samples before updating the coefficients.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080D0B-EB42-E53B-F08C-565C64804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535" y="6026299"/>
            <a:ext cx="1362265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85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F6C9-F834-F2FF-2326-BDBA3EDC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Illustration of epoch in BGD vs. SGD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A228E-C97C-3CFB-70BF-6B1A482F0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1. Epoch = one complete pass over the entire training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Ex: If we have 4 samples, after seeing all 4 samples once, 1 epoch is completed.</a:t>
            </a:r>
          </a:p>
          <a:p>
            <a:pPr>
              <a:buNone/>
            </a:pPr>
            <a:r>
              <a:rPr lang="en-US" dirty="0"/>
              <a:t>2. Parameter Updates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SGD: The model parameters are updated after each individual sample.</a:t>
            </a:r>
            <a:br>
              <a:rPr lang="en-US" dirty="0"/>
            </a:br>
            <a:r>
              <a:rPr lang="en-US" dirty="0"/>
              <a:t>With 4 samples → 4 parameter updates per epoch.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BGD: The model parameters are updated after processing the entire dataset.</a:t>
            </a:r>
            <a:br>
              <a:rPr lang="en-US" dirty="0"/>
            </a:br>
            <a:r>
              <a:rPr lang="en-US" dirty="0"/>
              <a:t>With 4 samples → 1 parameter update per epoch.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78862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7610-8B49-FD52-9630-5019588C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Parameter Updates per Epoch in BGD vs. SGD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B77C6C-F111-7682-1464-63C80BB80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469596"/>
              </p:ext>
            </p:extLst>
          </p:nvPr>
        </p:nvGraphicFramePr>
        <p:xfrm>
          <a:off x="962891" y="2376964"/>
          <a:ext cx="105156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1352661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440515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6292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Algorithm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Parameter updates per epoch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86756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D8FAB8-A044-E779-F2BB-540E44FBB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153218"/>
              </p:ext>
            </p:extLst>
          </p:nvPr>
        </p:nvGraphicFramePr>
        <p:xfrm>
          <a:off x="1039091" y="4271802"/>
          <a:ext cx="105156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74340410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3529696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222384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BGD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Update once after full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25807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AAFFF1-FDA5-0C28-334A-1586BF345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568167"/>
              </p:ext>
            </p:extLst>
          </p:nvPr>
        </p:nvGraphicFramePr>
        <p:xfrm>
          <a:off x="1039091" y="3429000"/>
          <a:ext cx="105156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7771313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494017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90826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SGD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 (number of samples)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Update after each sample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314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DF87CA-9A22-6613-A5B9-E12A1262D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241734"/>
              </p:ext>
            </p:extLst>
          </p:nvPr>
        </p:nvGraphicFramePr>
        <p:xfrm>
          <a:off x="962891" y="5154003"/>
          <a:ext cx="105156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0889668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780940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88552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Mini-batch GD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⌈m/ batch size​⌉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Update after each mini-batch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49175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2AC9832-0E3D-83B9-F7EC-51B42B1124CC}"/>
              </a:ext>
            </a:extLst>
          </p:cNvPr>
          <p:cNvSpPr txBox="1"/>
          <p:nvPr/>
        </p:nvSpPr>
        <p:spPr>
          <a:xfrm>
            <a:off x="1039091" y="5917721"/>
            <a:ext cx="9528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 is the number of training samples.</a:t>
            </a:r>
          </a:p>
          <a:p>
            <a:r>
              <a:rPr lang="en-US" dirty="0"/>
              <a:t>The ceiling is important for mini-batch GD. </a:t>
            </a:r>
          </a:p>
          <a:p>
            <a:r>
              <a:rPr lang="en-US" dirty="0"/>
              <a:t>Ex: with m=10 and batch size =4, we have 3 batches of 4,4,2 size, so ⌈10/4​⌉=3</a:t>
            </a:r>
          </a:p>
        </p:txBody>
      </p:sp>
    </p:spTree>
    <p:extLst>
      <p:ext uri="{BB962C8B-B14F-4D97-AF65-F5344CB8AC3E}">
        <p14:creationId xmlns:p14="http://schemas.microsoft.com/office/powerpoint/2010/main" val="5725381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BA168-F6ED-DEEC-CEAF-D6B98A1D9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Summary: SGD vs. BGD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39429-F8BD-C23E-B830-DCC34FF51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Suppose the dataset has 4 samples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Epoch 1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SGD: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Sample 1 → update b0​,b1​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Sample 2 → update b0​,b1​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Sample 3 → update b0​,b1​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Sample 4 → update b0​,b1​ </a:t>
            </a:r>
          </a:p>
          <a:p>
            <a:pPr marL="285750" indent="-285750"/>
            <a:r>
              <a:rPr lang="en-US" b="1" dirty="0"/>
              <a:t>BGD: </a:t>
            </a:r>
          </a:p>
          <a:p>
            <a:pPr marL="742950" lvl="1" indent="-285750"/>
            <a:r>
              <a:rPr lang="en-US" dirty="0"/>
              <a:t>Compute gradients for all 4 samples. </a:t>
            </a:r>
          </a:p>
          <a:p>
            <a:pPr marL="742950" lvl="1" indent="-285750"/>
            <a:r>
              <a:rPr lang="en-US" dirty="0"/>
              <a:t>Average the gradients → update b0​,b1​ once.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After this, </a:t>
            </a:r>
            <a:r>
              <a:rPr lang="en-US" b="1" dirty="0"/>
              <a:t>both have completed 1 epoch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But the </a:t>
            </a:r>
            <a:r>
              <a:rPr lang="en-US" b="1" dirty="0"/>
              <a:t>number of parameter updates differs: BGD = 1, SGD = 4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1970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311B1B-B8A5-4868-808D-0FB37997D7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 Regression by Stochastic Gradient Descent with two input variables - Problem Statement 2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1263EAE-756C-47FC-B76C-A83F9FAFE7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3870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90BC3-0557-44FD-B34F-11A5B8AA4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data - Problem Statement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AFF40-2CF3-4D27-AC85-FE79DBC17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DE7548-BBDF-4CFC-B339-A3377DC5C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585403"/>
              </p:ext>
            </p:extLst>
          </p:nvPr>
        </p:nvGraphicFramePr>
        <p:xfrm>
          <a:off x="1680882" y="2460812"/>
          <a:ext cx="4986171" cy="2474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057">
                  <a:extLst>
                    <a:ext uri="{9D8B030D-6E8A-4147-A177-3AD203B41FA5}">
                      <a16:colId xmlns:a16="http://schemas.microsoft.com/office/drawing/2014/main" val="403065424"/>
                    </a:ext>
                  </a:extLst>
                </a:gridCol>
                <a:gridCol w="1662057">
                  <a:extLst>
                    <a:ext uri="{9D8B030D-6E8A-4147-A177-3AD203B41FA5}">
                      <a16:colId xmlns:a16="http://schemas.microsoft.com/office/drawing/2014/main" val="3621414488"/>
                    </a:ext>
                  </a:extLst>
                </a:gridCol>
                <a:gridCol w="1662057">
                  <a:extLst>
                    <a:ext uri="{9D8B030D-6E8A-4147-A177-3AD203B41FA5}">
                      <a16:colId xmlns:a16="http://schemas.microsoft.com/office/drawing/2014/main" val="1104015791"/>
                    </a:ext>
                  </a:extLst>
                </a:gridCol>
              </a:tblGrid>
              <a:tr h="137158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02774"/>
                  </a:ext>
                </a:extLst>
              </a:tr>
              <a:tr h="52712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871705"/>
                  </a:ext>
                </a:extLst>
              </a:tr>
              <a:tr h="52712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858723"/>
                  </a:ext>
                </a:extLst>
              </a:tr>
              <a:tr h="52712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293654"/>
                  </a:ext>
                </a:extLst>
              </a:tr>
              <a:tr h="527125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841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4572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94F45-4070-416C-9DF9-C4D472EA6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Logistic Regression by Stochastic Gradient Descent 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8A2D7-F852-4050-BE9C-11A2B2386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the final value of B0, B1 and B2 after one (specified number of epochs) epoch</a:t>
            </a:r>
          </a:p>
          <a:p>
            <a:r>
              <a:rPr lang="en-US" dirty="0"/>
              <a:t>Now that we have trained the model, we can use it to make predictions.</a:t>
            </a:r>
          </a:p>
          <a:p>
            <a:r>
              <a:rPr lang="en-US" dirty="0"/>
              <a:t>Using coefficients, get the updated prediction by applying sigmoid function</a:t>
            </a:r>
          </a:p>
          <a:p>
            <a:r>
              <a:rPr lang="en-US" dirty="0"/>
              <a:t>Get the new target label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5554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BD1C-9180-4E0D-BC73-ACE1B7E15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Logistic Regression by Stochastic Gradient Descent 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B1B24-E0A8-4753-910B-E9596C0E5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Repeat the Process</a:t>
            </a:r>
          </a:p>
          <a:p>
            <a:r>
              <a:rPr lang="en-US" dirty="0"/>
              <a:t>repeat this process and update the model for each training instance in the dataset. </a:t>
            </a:r>
          </a:p>
          <a:p>
            <a:r>
              <a:rPr lang="en-US" dirty="0"/>
              <a:t>A single iteration through the training dataset is called an epoch. </a:t>
            </a:r>
          </a:p>
          <a:p>
            <a:r>
              <a:rPr lang="en-US" dirty="0"/>
              <a:t>It is common to repeat the stochastic gradient descent procedure for a fixed number of epochs. </a:t>
            </a:r>
          </a:p>
          <a:p>
            <a:r>
              <a:rPr lang="en-US" dirty="0"/>
              <a:t>At the end of epoch, calculate error values for the model. </a:t>
            </a:r>
          </a:p>
          <a:p>
            <a:r>
              <a:rPr lang="en-US" dirty="0"/>
              <a:t>Because this is a classification problem, we need to get an idea of how accurate the model is at each iteration. </a:t>
            </a:r>
          </a:p>
          <a:p>
            <a:r>
              <a:rPr lang="en-US" dirty="0"/>
              <a:t>Plot the graph of accuracy of the model over specified epochs </a:t>
            </a:r>
          </a:p>
          <a:p>
            <a:pPr marL="0" indent="0">
              <a:buNone/>
            </a:pPr>
            <a:r>
              <a:rPr lang="en-US" dirty="0"/>
              <a:t>   Plot epoch (x axis) vs accuracy (y axis)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59759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BD1C-9180-4E0D-BC73-ACE1B7E15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Logistic Regression by Stochastic Gradient Descent 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B1B24-E0A8-4753-910B-E9596C0E5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Compute accuracy </a:t>
            </a:r>
          </a:p>
          <a:p>
            <a:r>
              <a:rPr lang="en-US" dirty="0"/>
              <a:t>prediction = IF (output &lt; 0.5) Then 0 Else 1 </a:t>
            </a:r>
          </a:p>
          <a:p>
            <a:r>
              <a:rPr lang="en-US" dirty="0"/>
              <a:t>With this simple procedure we can convert all of the outputs to class values (or target labels):</a:t>
            </a:r>
          </a:p>
          <a:p>
            <a:r>
              <a:rPr lang="en-US" dirty="0"/>
              <a:t>Finally, we can calculate the accuracy for the model on the training dataset:</a:t>
            </a:r>
          </a:p>
          <a:p>
            <a:r>
              <a:rPr lang="en-US" dirty="0"/>
              <a:t>Accuracy = (Correct predictions/Total predictions) * 100</a:t>
            </a:r>
          </a:p>
          <a:p>
            <a:r>
              <a:rPr lang="en-US" dirty="0"/>
              <a:t>Total predictions = number of training instances = 4</a:t>
            </a:r>
          </a:p>
          <a:p>
            <a:r>
              <a:rPr lang="en-US" dirty="0"/>
              <a:t>For the training data, calculate accuracy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739702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40CFA4A-9D13-4E80-B954-0B040A79DD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Statement 3</a:t>
            </a:r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7B16C75-111C-45FC-8586-F0E0DEDC94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29348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FB74-D752-41AE-963D-3EC1839F9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Training dataset - </a:t>
            </a:r>
            <a:r>
              <a:rPr lang="en-US" dirty="0"/>
              <a:t>Problem Statement 3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A89AB8-AE01-409C-AF0D-47D7441FA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4329" y="3157260"/>
            <a:ext cx="5320569" cy="30352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5757E4-8970-4F3B-B160-184845FBF2EF}"/>
              </a:ext>
            </a:extLst>
          </p:cNvPr>
          <p:cNvSpPr txBox="1"/>
          <p:nvPr/>
        </p:nvSpPr>
        <p:spPr>
          <a:xfrm>
            <a:off x="1116106" y="1663210"/>
            <a:ext cx="99104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dataset has two input variables (X1 and X2) one output variable (Y).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input variables are real-valued random numbers drawn from a Gaussian distribution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output variable has two values, making the problem a binary classification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Plot the graph of X1 (x- axis) vs X2 (y axis)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66614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71CF-999D-4307-A76C-F70AD473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 Dataset – X1 vs X2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1F4DED-6EA0-4B11-81EB-205899E62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1205" y="2029344"/>
            <a:ext cx="7449590" cy="3943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CC85D0-07F1-4FA4-B4B4-AF8592A1DF85}"/>
              </a:ext>
            </a:extLst>
          </p:cNvPr>
          <p:cNvSpPr txBox="1"/>
          <p:nvPr/>
        </p:nvSpPr>
        <p:spPr>
          <a:xfrm>
            <a:off x="838200" y="1690688"/>
            <a:ext cx="7297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How do you analyse the graph?</a:t>
            </a:r>
          </a:p>
        </p:txBody>
      </p:sp>
    </p:spTree>
    <p:extLst>
      <p:ext uri="{BB962C8B-B14F-4D97-AF65-F5344CB8AC3E}">
        <p14:creationId xmlns:p14="http://schemas.microsoft.com/office/powerpoint/2010/main" val="14735770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9D179-371D-4E7F-8CAC-474292CCD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49F31-D584-4DDF-B1E9-857AA057F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easily draw a line to separate the classes</a:t>
            </a:r>
          </a:p>
          <a:p>
            <a:r>
              <a:rPr lang="en-US" dirty="0"/>
              <a:t>For this dataset, the logistic regression has three coefficients just like linear regression</a:t>
            </a:r>
          </a:p>
          <a:p>
            <a:r>
              <a:rPr lang="en-US" dirty="0"/>
              <a:t>output = B0 + B1 * X1 + B2 *  X2 </a:t>
            </a:r>
          </a:p>
          <a:p>
            <a:r>
              <a:rPr lang="en-US" dirty="0"/>
              <a:t>The job of the learning algorithm will be to discover the best values for the coefficients (B0, B1 and B2) based on the training data. </a:t>
            </a:r>
          </a:p>
        </p:txBody>
      </p:sp>
    </p:spTree>
    <p:extLst>
      <p:ext uri="{BB962C8B-B14F-4D97-AF65-F5344CB8AC3E}">
        <p14:creationId xmlns:p14="http://schemas.microsoft.com/office/powerpoint/2010/main" val="165735346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DE0AF-BB96-4494-BFFC-222CFE05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 Regression by Stochastic Gradient Descent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8C594-B06A-475A-8894-251B2614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can estimate the values of the coefficients for the logistic regression model using stochastic gradient descent</a:t>
            </a:r>
          </a:p>
          <a:p>
            <a:r>
              <a:rPr lang="en-IN" sz="3200" dirty="0">
                <a:solidFill>
                  <a:srgbClr val="00B0F0"/>
                </a:solidFill>
                <a:latin typeface="CMBX12"/>
              </a:rPr>
              <a:t>Calculate Prediction</a:t>
            </a:r>
          </a:p>
          <a:p>
            <a:r>
              <a:rPr lang="en-US" dirty="0">
                <a:latin typeface="CMR12"/>
              </a:rPr>
              <a:t>Assign 0.0 to each coefficient and calculating the probability of the first training instance that belongs to class 0.</a:t>
            </a:r>
          </a:p>
          <a:p>
            <a:r>
              <a:rPr lang="en-IN" dirty="0">
                <a:latin typeface="CMMI12"/>
              </a:rPr>
              <a:t>B</a:t>
            </a:r>
            <a:r>
              <a:rPr lang="en-IN" dirty="0">
                <a:latin typeface="CMR12"/>
              </a:rPr>
              <a:t>0 = 0.0</a:t>
            </a:r>
          </a:p>
          <a:p>
            <a:r>
              <a:rPr lang="en-IN" dirty="0">
                <a:latin typeface="CMMI12"/>
              </a:rPr>
              <a:t>B</a:t>
            </a:r>
            <a:r>
              <a:rPr lang="en-IN" dirty="0">
                <a:latin typeface="CMR12"/>
              </a:rPr>
              <a:t>1 = 0.0</a:t>
            </a:r>
          </a:p>
          <a:p>
            <a:r>
              <a:rPr lang="en-IN" dirty="0">
                <a:latin typeface="CMMI12"/>
              </a:rPr>
              <a:t>B</a:t>
            </a:r>
            <a:r>
              <a:rPr lang="en-IN" dirty="0">
                <a:latin typeface="CMR12"/>
              </a:rPr>
              <a:t>2 = 0.0</a:t>
            </a:r>
          </a:p>
          <a:p>
            <a:r>
              <a:rPr lang="en-US" dirty="0">
                <a:latin typeface="CMR12"/>
              </a:rPr>
              <a:t>The first training instance is: </a:t>
            </a:r>
            <a:r>
              <a:rPr lang="en-US" dirty="0">
                <a:latin typeface="CMMI12"/>
              </a:rPr>
              <a:t>X</a:t>
            </a:r>
            <a:r>
              <a:rPr lang="en-US" dirty="0">
                <a:latin typeface="CMR12"/>
              </a:rPr>
              <a:t>1 = 2.7810836, </a:t>
            </a:r>
            <a:r>
              <a:rPr lang="en-US" dirty="0">
                <a:latin typeface="CMMI12"/>
              </a:rPr>
              <a:t>X</a:t>
            </a:r>
            <a:r>
              <a:rPr lang="en-US" dirty="0">
                <a:latin typeface="CMR12"/>
              </a:rPr>
              <a:t>2 = 2.550537003, </a:t>
            </a:r>
            <a:r>
              <a:rPr lang="en-US" dirty="0">
                <a:latin typeface="CMMI12"/>
              </a:rPr>
              <a:t>Y </a:t>
            </a:r>
            <a:r>
              <a:rPr lang="en-US" dirty="0">
                <a:latin typeface="CMR12"/>
              </a:rPr>
              <a:t>= 0.</a:t>
            </a:r>
          </a:p>
          <a:p>
            <a:r>
              <a:rPr lang="en-US" dirty="0">
                <a:latin typeface="CMR12"/>
              </a:rPr>
              <a:t>Using the above equation, calculate a prediction: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4C26D3-CC36-49F0-94AD-78F41BB73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625" y="5497254"/>
            <a:ext cx="4296375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757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DE0AF-BB96-4494-BFFC-222CFE05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 Regression by Stochastic Gradient Descent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8C594-B06A-475A-8894-251B2614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calculate a prediction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361DFE-C8CC-49B8-A278-B3781F695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77134"/>
            <a:ext cx="5077534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465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DE0AF-BB96-4494-BFFC-222CFE05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 Regression by Stochastic Gradient Descent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8C594-B06A-475A-8894-251B2614A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766"/>
            <a:ext cx="10515600" cy="50841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Update Equation for B0, B1 and B2</a:t>
            </a:r>
          </a:p>
          <a:p>
            <a:r>
              <a:rPr lang="en-US" dirty="0"/>
              <a:t>update the coefficients using Gradient Descent Update Equation</a:t>
            </a:r>
          </a:p>
          <a:p>
            <a:r>
              <a:rPr lang="en-US" dirty="0"/>
              <a:t>b0 = b0 - alpha * (1/m) * </a:t>
            </a:r>
            <a:r>
              <a:rPr lang="el-GR" dirty="0"/>
              <a:t>Σ (^</a:t>
            </a:r>
            <a:r>
              <a:rPr lang="en-US" dirty="0"/>
              <a:t>y - y) </a:t>
            </a:r>
          </a:p>
          <a:p>
            <a:r>
              <a:rPr lang="en-US" dirty="0"/>
              <a:t>b1 = b1 - alpha * (1/m) * </a:t>
            </a:r>
            <a:r>
              <a:rPr lang="el-GR" dirty="0"/>
              <a:t>Σ (^</a:t>
            </a:r>
            <a:r>
              <a:rPr lang="en-US" dirty="0"/>
              <a:t>y - y) *x1</a:t>
            </a:r>
          </a:p>
          <a:p>
            <a:r>
              <a:rPr lang="en-US" dirty="0"/>
              <a:t>b1 = b1 - alpha * (1/m) * </a:t>
            </a:r>
            <a:r>
              <a:rPr lang="el-GR" dirty="0"/>
              <a:t>Σ (^</a:t>
            </a:r>
            <a:r>
              <a:rPr lang="en-US" dirty="0"/>
              <a:t>y - y) *x2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09918D-1804-4D5B-BFE9-14D803716DCF}"/>
              </a:ext>
            </a:extLst>
          </p:cNvPr>
          <p:cNvSpPr txBox="1"/>
          <p:nvPr/>
        </p:nvSpPr>
        <p:spPr>
          <a:xfrm>
            <a:off x="838200" y="4812917"/>
            <a:ext cx="10645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x is the input value for the coefficient.</a:t>
            </a:r>
          </a:p>
          <a:p>
            <a:r>
              <a:rPr lang="en-US" dirty="0"/>
              <a:t>B0 does not have an input. </a:t>
            </a:r>
          </a:p>
          <a:p>
            <a:r>
              <a:rPr lang="en-US" dirty="0"/>
              <a:t>This coefficient is called the bias or the intercept and we can assume B0 always has an input value of 1.0.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7608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6835" y="455399"/>
            <a:ext cx="10668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 Statement 4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Predicting whether a student will pass or fail an exam based on their hours of study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35" y="1543169"/>
            <a:ext cx="8618262" cy="408604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16835" y="5855209"/>
            <a:ext cx="110390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Predict the probability that a student will pass the exam if they study for 3.5/7.5 hours.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87037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F86C6-D486-41F7-96D3-1710BC770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Applying stochastic gradient descent to the problem of finding the coefficients for the logistic regression model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91713-5D49-41A1-9983-3D7245234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each training instance:</a:t>
            </a:r>
          </a:p>
          <a:p>
            <a:pPr lvl="1"/>
            <a:r>
              <a:rPr lang="en-US" dirty="0"/>
              <a:t>Calculate a prediction using the current values of the coefficients.</a:t>
            </a:r>
          </a:p>
          <a:p>
            <a:pPr lvl="1"/>
            <a:r>
              <a:rPr lang="en-US" dirty="0"/>
              <a:t>Calculate new coefficient values based on the error in the prediction.</a:t>
            </a:r>
          </a:p>
          <a:p>
            <a:r>
              <a:rPr lang="en-US" dirty="0"/>
              <a:t>The process is repeated until the model is accurate enough (e.g. error drops to some desirable level) or for a fixed number iterations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338567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DE0AF-BB96-4494-BFFC-222CFE05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 Regression by Stochastic Gradient Descent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8C594-B06A-475A-8894-251B2614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Repeat the stochastic gradient descent procedure for 10 epochs. </a:t>
            </a:r>
          </a:p>
          <a:p>
            <a:r>
              <a:rPr lang="en-US" dirty="0"/>
              <a:t>At the end of epoch calculate error values for the model. </a:t>
            </a:r>
          </a:p>
          <a:p>
            <a:r>
              <a:rPr lang="en-US" dirty="0"/>
              <a:t>Because this is a classification problem, get accuracy of the model at each iteration. </a:t>
            </a:r>
          </a:p>
          <a:p>
            <a:r>
              <a:rPr lang="en-US" dirty="0">
                <a:solidFill>
                  <a:srgbClr val="00B0F0"/>
                </a:solidFill>
              </a:rPr>
              <a:t>Plot the graph to show accuracy of the model over 10 epochs.</a:t>
            </a:r>
          </a:p>
        </p:txBody>
      </p:sp>
    </p:spTree>
    <p:extLst>
      <p:ext uri="{BB962C8B-B14F-4D97-AF65-F5344CB8AC3E}">
        <p14:creationId xmlns:p14="http://schemas.microsoft.com/office/powerpoint/2010/main" val="416092306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49DD8-2601-471E-A6A4-24219857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Logistic Regression with Gradient Descent - Accuracy versus Iteration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85E38E-9005-477E-9909-517217AABC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0363" y="2043633"/>
            <a:ext cx="6611273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053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0691-587B-49EA-820E-84F1CB2EA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Odds and log odds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F9C77-C121-4F6A-A0D9-DA909D2AF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7042"/>
            <a:ext cx="10515600" cy="461513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probability, </a:t>
            </a:r>
            <a:r>
              <a:rPr lang="en-US" dirty="0">
                <a:solidFill>
                  <a:srgbClr val="00B0F0"/>
                </a:solidFill>
              </a:rPr>
              <a:t>odds</a:t>
            </a:r>
            <a:r>
              <a:rPr lang="en-US" dirty="0"/>
              <a:t> represent the ratio of the probability of success (an event occurring) to the probability of failure (the event not occurring). </a:t>
            </a:r>
          </a:p>
          <a:p>
            <a:r>
              <a:rPr lang="en-US" dirty="0"/>
              <a:t>If P is the probability of success and Q is the probability of failure (Q=1−P), then the </a:t>
            </a:r>
            <a:r>
              <a:rPr lang="en-US" dirty="0">
                <a:solidFill>
                  <a:srgbClr val="00B0F0"/>
                </a:solidFill>
              </a:rPr>
              <a:t>odds O =P/Q= P/(1-P)</a:t>
            </a:r>
          </a:p>
          <a:p>
            <a:r>
              <a:rPr lang="en-US" dirty="0">
                <a:solidFill>
                  <a:srgbClr val="00B0F0"/>
                </a:solidFill>
              </a:rPr>
              <a:t>The value of Odds range from zero to infinity and the value of probability lies between zero and one.</a:t>
            </a:r>
          </a:p>
          <a:p>
            <a:r>
              <a:rPr lang="en-US" dirty="0"/>
              <a:t>Ex: For example, if the probability of winning a game is 0.6, then the odds of winning = 0.6/0.4=0.6/0.4=1.5.</a:t>
            </a:r>
          </a:p>
          <a:p>
            <a:r>
              <a:rPr lang="en-US" dirty="0"/>
              <a:t>Log odds, often referred to as logit, is the natural logarithm of the odds. Mathematically, it is represented as</a:t>
            </a:r>
          </a:p>
          <a:p>
            <a:r>
              <a:rPr lang="en-IN" dirty="0">
                <a:latin typeface="KaTeX_Main"/>
              </a:rPr>
              <a:t>logit(P)=</a:t>
            </a:r>
            <a:r>
              <a:rPr lang="en-IN" dirty="0">
                <a:solidFill>
                  <a:prstClr val="black"/>
                </a:solidFill>
                <a:latin typeface="KaTeX_Main"/>
              </a:rPr>
              <a:t> ln(O)= </a:t>
            </a:r>
            <a:r>
              <a:rPr lang="en-IN" dirty="0">
                <a:latin typeface="KaTeX_Main"/>
              </a:rPr>
              <a:t>ln</a:t>
            </a:r>
            <a:r>
              <a:rPr lang="en-IN" dirty="0">
                <a:latin typeface="KaTeX_Size2"/>
              </a:rPr>
              <a:t>(</a:t>
            </a:r>
            <a:r>
              <a:rPr lang="en-IN" i="1" dirty="0">
                <a:latin typeface="KaTeX_Math"/>
              </a:rPr>
              <a:t>P/Q</a:t>
            </a:r>
            <a:r>
              <a:rPr lang="en-IN" dirty="0">
                <a:latin typeface="KaTeX_Main"/>
              </a:rPr>
              <a:t>​</a:t>
            </a:r>
            <a:r>
              <a:rPr lang="en-IN" dirty="0">
                <a:latin typeface="KaTeX_Size2"/>
              </a:rPr>
              <a:t>)</a:t>
            </a:r>
          </a:p>
          <a:p>
            <a:r>
              <a:rPr lang="en-US" dirty="0">
                <a:solidFill>
                  <a:srgbClr val="00B0F0"/>
                </a:solidFill>
              </a:rPr>
              <a:t>Find the range of Odds and logit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666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C1A40-1A87-8B3F-C65F-6D6B35B77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0220"/>
          </a:xfrm>
        </p:spPr>
        <p:txBody>
          <a:bodyPr/>
          <a:lstStyle/>
          <a:p>
            <a:r>
              <a:rPr lang="en-IN" dirty="0"/>
              <a:t>Range: Probability vs. Odds vs. Logit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05A75-E348-15E0-1ADA-D590CCC53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439" y="1537854"/>
            <a:ext cx="10971361" cy="495501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dirty="0">
                <a:solidFill>
                  <a:srgbClr val="00B0F0"/>
                </a:solidFill>
              </a:rPr>
              <a:t>Range:</a:t>
            </a:r>
          </a:p>
          <a:p>
            <a:r>
              <a:rPr lang="en-IN" sz="2000" dirty="0"/>
              <a:t>Probability 𝑃: 0 ≤𝑃 ≤1 </a:t>
            </a:r>
          </a:p>
          <a:p>
            <a:r>
              <a:rPr lang="en-IN" sz="2000" dirty="0"/>
              <a:t>Odds 𝑂: 0≤ 𝑂 &lt;∞ </a:t>
            </a:r>
          </a:p>
          <a:p>
            <a:r>
              <a:rPr lang="en-US" sz="2000" dirty="0"/>
              <a:t>logit range is: −∞&lt;Logit (𝑃)&lt;+∞</a:t>
            </a:r>
          </a:p>
          <a:p>
            <a:r>
              <a:rPr lang="en-US" sz="2000" dirty="0">
                <a:solidFill>
                  <a:srgbClr val="00B0F0"/>
                </a:solidFill>
              </a:rPr>
              <a:t>Range of Probability and Odds:</a:t>
            </a:r>
          </a:p>
          <a:p>
            <a:r>
              <a:rPr lang="en-US" sz="2000" dirty="0"/>
              <a:t>When P=0, O=0. </a:t>
            </a:r>
          </a:p>
          <a:p>
            <a:r>
              <a:rPr lang="en-US" sz="2000" dirty="0"/>
              <a:t>As P approaches 1, O approaches ∞. </a:t>
            </a:r>
          </a:p>
          <a:p>
            <a:r>
              <a:rPr lang="en-US" sz="2000" dirty="0">
                <a:solidFill>
                  <a:srgbClr val="EE0000"/>
                </a:solidFill>
              </a:rPr>
              <a:t>Note: Odds never equal ∞; at P=1, O=1/0, which is undefined.</a:t>
            </a:r>
          </a:p>
          <a:p>
            <a:r>
              <a:rPr lang="en-US" sz="2000" dirty="0">
                <a:solidFill>
                  <a:srgbClr val="EE0000"/>
                </a:solidFill>
              </a:rPr>
              <a:t>So write Odds 𝑂: 0≤ 𝑂 &lt;∞ </a:t>
            </a:r>
          </a:p>
          <a:p>
            <a:r>
              <a:rPr lang="en-US" sz="2000" dirty="0">
                <a:solidFill>
                  <a:srgbClr val="00B0F0"/>
                </a:solidFill>
              </a:rPr>
              <a:t>Relationship between Probability, Odds, and Logit:</a:t>
            </a:r>
          </a:p>
          <a:p>
            <a:pPr>
              <a:buNone/>
            </a:pPr>
            <a:r>
              <a:rPr lang="en-US" sz="2000" dirty="0"/>
              <a:t>If P approaches 0, then O approaches 0, so logit(P)→−∞</a:t>
            </a:r>
            <a:endParaRPr lang="en-IN" sz="2000" dirty="0"/>
          </a:p>
          <a:p>
            <a:pPr>
              <a:buNone/>
            </a:pPr>
            <a:r>
              <a:rPr lang="en-IN" sz="2000" dirty="0"/>
              <a:t> </a:t>
            </a:r>
            <a:r>
              <a:rPr lang="en-US" sz="2000" dirty="0"/>
              <a:t>If P=0.5, then O=1, so logit(P)=0​</a:t>
            </a:r>
          </a:p>
          <a:p>
            <a:pPr>
              <a:buNone/>
            </a:pPr>
            <a:r>
              <a:rPr lang="en-US" sz="2000" dirty="0"/>
              <a:t>If P approaches 1, then O→∞, so logit(P)→+∞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166520-9F2B-61AE-90E8-8EFFFDD6EF09}"/>
              </a:ext>
            </a:extLst>
          </p:cNvPr>
          <p:cNvSpPr txBox="1"/>
          <p:nvPr/>
        </p:nvSpPr>
        <p:spPr>
          <a:xfrm>
            <a:off x="6896686" y="1627217"/>
            <a:ext cx="4912875" cy="2322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odds O = P/(1-P)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TeX_Main"/>
                <a:ea typeface="+mn-ea"/>
                <a:cs typeface="+mn-cs"/>
              </a:rPr>
              <a:t>logit(P)=ln(O)=ln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TeX_Size2"/>
                <a:ea typeface="+mn-ea"/>
                <a:cs typeface="+mn-cs"/>
              </a:rPr>
              <a:t>(</a:t>
            </a:r>
            <a:r>
              <a:rPr kumimoji="0" lang="en-IN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TeX_Math"/>
                <a:ea typeface="+mn-ea"/>
                <a:cs typeface="+mn-cs"/>
              </a:rPr>
              <a:t>P/(1-P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TeX_Main"/>
                <a:ea typeface="+mn-ea"/>
                <a:cs typeface="+mn-cs"/>
              </a:rPr>
              <a:t>​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TeX_Size2"/>
                <a:ea typeface="+mn-ea"/>
                <a:cs typeface="+mn-cs"/>
              </a:rPr>
              <a:t>))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TeX_Size2"/>
                <a:ea typeface="+mn-ea"/>
                <a:cs typeface="+mn-cs"/>
              </a:rPr>
              <a:t>we say "log of the odds", but "logit of the probability”.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TeX_Size2"/>
                <a:ea typeface="+mn-ea"/>
                <a:cs typeface="+mn-cs"/>
              </a:rPr>
              <a:t>The logit is the logarithm of the odds.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TeX_Size2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097847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574F2-D617-329F-508C-FF65F5E74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Odds and log odds -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A30C3-C1D5-8A6A-D708-A74DA94FC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are odds transformed into log-odds?</a:t>
            </a:r>
          </a:p>
          <a:p>
            <a:pPr>
              <a:buNone/>
            </a:pPr>
            <a:r>
              <a:rPr lang="en-US" b="1" dirty="0"/>
              <a:t>Probability P</a:t>
            </a:r>
            <a:r>
              <a:rPr lang="en-US" dirty="0"/>
              <a:t> is restricted to: 0≤P≤1 </a:t>
            </a:r>
          </a:p>
          <a:p>
            <a:pPr>
              <a:buNone/>
            </a:pPr>
            <a:r>
              <a:rPr lang="en-US" dirty="0"/>
              <a:t>A linear model can produce values outside this range, so directly modeling probability with a straight line is problematic.</a:t>
            </a:r>
          </a:p>
          <a:p>
            <a:pPr>
              <a:buNone/>
            </a:pPr>
            <a:r>
              <a:rPr lang="en-US" b="1" dirty="0"/>
              <a:t>Odds </a:t>
            </a:r>
            <a:r>
              <a:rPr lang="en-US" dirty="0"/>
              <a:t>O=P/(1−P)​ range from: 0≤O&lt;∞ </a:t>
            </a:r>
          </a:p>
          <a:p>
            <a:pPr>
              <a:buNone/>
            </a:pPr>
            <a:r>
              <a:rPr lang="en-US" dirty="0"/>
              <a:t>This range is one-sided and not suitable for an unrestricted linear predictor.</a:t>
            </a:r>
          </a:p>
          <a:p>
            <a:pPr marL="0" lvl="0" indent="0">
              <a:buNone/>
            </a:pPr>
            <a:r>
              <a:rPr lang="en-US" b="1" dirty="0"/>
              <a:t>log-odds (logit)</a:t>
            </a:r>
            <a:r>
              <a:rPr lang="en-US" dirty="0"/>
              <a:t>: Taking the logarithm of the odds gives the </a:t>
            </a:r>
            <a:r>
              <a:rPr lang="en-US" b="1" dirty="0"/>
              <a:t>log-odds (logit)</a:t>
            </a:r>
            <a:r>
              <a:rPr lang="en-US" dirty="0"/>
              <a:t>:</a:t>
            </a:r>
          </a:p>
          <a:p>
            <a:pPr marL="0" lvl="0" indent="0">
              <a:buNone/>
            </a:pPr>
            <a:r>
              <a:rPr lang="en-US" dirty="0"/>
              <a:t>logit(P)=ln(O)=ln(P/(1−P)​ )</a:t>
            </a:r>
          </a:p>
          <a:p>
            <a:pPr marL="0" lvl="0" indent="0">
              <a:buNone/>
            </a:pPr>
            <a:r>
              <a:rPr lang="en-US" dirty="0"/>
              <a:t>The logit can take </a:t>
            </a:r>
            <a:r>
              <a:rPr lang="en-US" b="1" dirty="0"/>
              <a:t>any real value</a:t>
            </a:r>
            <a:r>
              <a:rPr lang="en-US" dirty="0"/>
              <a:t>: −∞&lt;logit(P)&lt;+∞​ </a:t>
            </a:r>
          </a:p>
          <a:p>
            <a:pPr marL="0" lvl="0" indent="0">
              <a:buNone/>
            </a:pPr>
            <a:r>
              <a:rPr lang="en-US" dirty="0"/>
              <a:t>Therefore, logistic regression can model the </a:t>
            </a:r>
            <a:r>
              <a:rPr lang="en-US" b="1" dirty="0"/>
              <a:t>log-odds as a linear function of the predictors</a:t>
            </a:r>
            <a:r>
              <a:rPr lang="en-US" dirty="0"/>
              <a:t>: logit(P)=b0​+b1​x​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73343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828C-10D5-F6B5-2419-A524744AC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2573"/>
          </a:xfrm>
        </p:spPr>
        <p:txBody>
          <a:bodyPr/>
          <a:lstStyle/>
          <a:p>
            <a:r>
              <a:rPr lang="en-IN" dirty="0"/>
              <a:t>Odds and log odds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39324-BCFB-0DAE-4510-94DEC691E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627" y="1737998"/>
            <a:ext cx="11615812" cy="4494812"/>
          </a:xfrm>
        </p:spPr>
        <p:txBody>
          <a:bodyPr/>
          <a:lstStyle/>
          <a:p>
            <a:r>
              <a:rPr lang="en-US" dirty="0"/>
              <a:t>P(x) is the predicted probability that the event y=1 occurs for a given input x. It is the output of the sigmoid function.</a:t>
            </a:r>
          </a:p>
          <a:p>
            <a:endParaRPr lang="en-US" dirty="0"/>
          </a:p>
          <a:p>
            <a:r>
              <a:rPr lang="en-US" dirty="0"/>
              <a:t>The odds are:</a:t>
            </a:r>
          </a:p>
          <a:p>
            <a:endParaRPr lang="en-US" dirty="0"/>
          </a:p>
          <a:p>
            <a:r>
              <a:rPr lang="en-US" dirty="0"/>
              <a:t>The log of the odds is called the logit: </a:t>
            </a:r>
          </a:p>
          <a:p>
            <a:endParaRPr lang="en-US" dirty="0"/>
          </a:p>
          <a:p>
            <a:r>
              <a:rPr lang="en-US" dirty="0"/>
              <a:t>Logistic regression models this as: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7100CA-0A2B-548F-94F6-D382C3EB1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530" y="2217547"/>
            <a:ext cx="4612641" cy="6550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D8D97A-3FD6-6DDE-3D18-D5B83638B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625" y="3066009"/>
            <a:ext cx="1875775" cy="7729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BB33B7-006D-6CAF-AD8F-52E1B6F64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977" y="4041464"/>
            <a:ext cx="4537219" cy="6779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D309AC-C7DF-4AD3-1B25-46CF8F6BD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919" y="5249739"/>
            <a:ext cx="3421052" cy="39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925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6730D-B3A0-333D-72D8-395497B95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09" y="335715"/>
            <a:ext cx="11360726" cy="1325563"/>
          </a:xfrm>
        </p:spPr>
        <p:txBody>
          <a:bodyPr>
            <a:normAutofit/>
          </a:bodyPr>
          <a:lstStyle/>
          <a:p>
            <a:r>
              <a:rPr lang="en-IN" sz="3600" dirty="0"/>
              <a:t>Probability vs. Odds  and Probability vs. Logit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28241D-5894-1D01-A0C9-B45CD64E43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909" y="1661278"/>
            <a:ext cx="10183091" cy="37572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F30F86-03F1-49A5-5DEB-C85433A1E46A}"/>
              </a:ext>
            </a:extLst>
          </p:cNvPr>
          <p:cNvSpPr txBox="1"/>
          <p:nvPr/>
        </p:nvSpPr>
        <p:spPr>
          <a:xfrm>
            <a:off x="138023" y="5682242"/>
            <a:ext cx="8186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Left plot: </a:t>
            </a:r>
            <a:r>
              <a:rPr lang="en-US" dirty="0"/>
              <a:t>As P increases from 0 toward 1, odds increase from 0 toward ∞</a:t>
            </a:r>
            <a:endParaRPr lang="en-IN" dirty="0"/>
          </a:p>
          <a:p>
            <a:r>
              <a:rPr lang="en-IN" dirty="0"/>
              <a:t>Right plot: </a:t>
            </a:r>
            <a:r>
              <a:rPr lang="en-US" dirty="0"/>
              <a:t>The logit transforms probabilities 0&lt;P&lt;1 onto the entire real line (−∞,+∞).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09B3D8-F03D-697E-0D5C-CBF000899E4C}"/>
              </a:ext>
            </a:extLst>
          </p:cNvPr>
          <p:cNvSpPr txBox="1"/>
          <p:nvPr/>
        </p:nvSpPr>
        <p:spPr>
          <a:xfrm>
            <a:off x="8575964" y="5543743"/>
            <a:ext cx="2660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At 𝑃=0.5,  logit(P) = 0.</a:t>
            </a:r>
          </a:p>
          <a:p>
            <a:r>
              <a:rPr lang="en-IN" dirty="0"/>
              <a:t>As 𝑃→0, logit(P) → −∞</a:t>
            </a:r>
          </a:p>
          <a:p>
            <a:r>
              <a:rPr lang="en-IN" dirty="0"/>
              <a:t>As 𝑃→1, logit(P)→ +∞</a:t>
            </a:r>
          </a:p>
        </p:txBody>
      </p:sp>
    </p:spTree>
    <p:extLst>
      <p:ext uri="{BB962C8B-B14F-4D97-AF65-F5344CB8AC3E}">
        <p14:creationId xmlns:p14="http://schemas.microsoft.com/office/powerpoint/2010/main" val="353817593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2DB03-10D3-59F9-783A-30B2E20CD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1033"/>
          </a:xfrm>
        </p:spPr>
        <p:txBody>
          <a:bodyPr>
            <a:normAutofit fontScale="90000"/>
          </a:bodyPr>
          <a:lstStyle/>
          <a:p>
            <a:r>
              <a:rPr lang="en-US" dirty="0"/>
              <a:t>Odds and log odds - Summary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6025F9-7DB8-A5F8-4274-0F7AA7C77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026" y="1121568"/>
            <a:ext cx="9859993" cy="537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4027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6903D-98DB-EEC9-C2E3-E347E3D26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23F1A-4740-2A23-A0E7-508A39A3A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binary logistic regression model has b0=-2 and coefficient b1=1, for an observation with x=3: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Using the odds interpretation of logistic regression, determine (P(y=1)), the predicted probability that the observation belongs to class 1. Do not use the sigmoid function. Show the intermediate steps in your calculation.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(P(y=1)) by applying the sigmoid function directly.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Compare the probabilities obtained using the two approaches and explain the relationship between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96781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9EA82-9A64-40D3-A0BF-A139E12B1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697"/>
            <a:ext cx="10515600" cy="1325563"/>
          </a:xfrm>
        </p:spPr>
        <p:txBody>
          <a:bodyPr/>
          <a:lstStyle/>
          <a:p>
            <a:r>
              <a:rPr lang="en-IN" dirty="0"/>
              <a:t>Simplify log odds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9514E-3074-44B6-B4EB-C83957A43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B0F0"/>
                </a:solidFill>
                <a:latin typeface="KaTeX_Size2"/>
              </a:rPr>
              <a:t>Deriving the Log-Odds from the Sigmoid Function</a:t>
            </a:r>
          </a:p>
          <a:p>
            <a:r>
              <a:rPr lang="en-US" dirty="0">
                <a:latin typeface="KaTeX_Size2"/>
              </a:rPr>
              <a:t>We have sigmoid function given by P(x) = </a:t>
            </a:r>
            <a:r>
              <a:rPr lang="en-US" dirty="0" err="1">
                <a:latin typeface="KaTeX_Size2"/>
              </a:rPr>
              <a:t>e^z</a:t>
            </a:r>
            <a:r>
              <a:rPr lang="en-US" dirty="0">
                <a:latin typeface="KaTeX_Size2"/>
              </a:rPr>
              <a:t>/(1+e^z)</a:t>
            </a:r>
          </a:p>
          <a:p>
            <a:r>
              <a:rPr lang="en-US" dirty="0">
                <a:latin typeface="KaTeX_Size2"/>
              </a:rPr>
              <a:t>1-p(x)= 1/(1+e^z)</a:t>
            </a:r>
          </a:p>
          <a:p>
            <a:r>
              <a:rPr lang="en-IN" dirty="0"/>
              <a:t>ln⁡(P(x)/(1−P(x)​) =ln(</a:t>
            </a:r>
            <a:r>
              <a:rPr lang="en-IN" dirty="0" err="1"/>
              <a:t>e^z</a:t>
            </a:r>
            <a:r>
              <a:rPr lang="en-IN" dirty="0"/>
              <a:t>) = z</a:t>
            </a:r>
          </a:p>
          <a:p>
            <a:r>
              <a:rPr lang="en-US" dirty="0">
                <a:solidFill>
                  <a:srgbClr val="00B0F0"/>
                </a:solidFill>
                <a:latin typeface="KaTeX_Main"/>
              </a:rPr>
              <a:t>ln⁡(P(x)/(1−</a:t>
            </a:r>
            <a:r>
              <a:rPr lang="en-US" i="1" dirty="0">
                <a:solidFill>
                  <a:srgbClr val="00B0F0"/>
                </a:solidFill>
                <a:latin typeface="KaTeX_Math"/>
              </a:rPr>
              <a:t>P</a:t>
            </a:r>
            <a:r>
              <a:rPr lang="en-US" dirty="0">
                <a:solidFill>
                  <a:srgbClr val="00B0F0"/>
                </a:solidFill>
                <a:latin typeface="KaTeX_Main"/>
              </a:rPr>
              <a:t>(</a:t>
            </a:r>
            <a:r>
              <a:rPr lang="en-US" i="1" dirty="0">
                <a:solidFill>
                  <a:srgbClr val="00B0F0"/>
                </a:solidFill>
                <a:latin typeface="KaTeX_Math"/>
              </a:rPr>
              <a:t>x</a:t>
            </a:r>
            <a:r>
              <a:rPr lang="en-US" dirty="0">
                <a:solidFill>
                  <a:srgbClr val="00B0F0"/>
                </a:solidFill>
                <a:latin typeface="KaTeX_Main"/>
              </a:rPr>
              <a:t>)​</a:t>
            </a:r>
            <a:r>
              <a:rPr lang="en-US" dirty="0">
                <a:solidFill>
                  <a:srgbClr val="00B0F0"/>
                </a:solidFill>
                <a:latin typeface="KaTeX_Size2"/>
              </a:rPr>
              <a:t>) = z</a:t>
            </a:r>
          </a:p>
          <a:p>
            <a:r>
              <a:rPr lang="en-US" dirty="0">
                <a:latin typeface="KaTeX_Size2"/>
              </a:rPr>
              <a:t>Note that </a:t>
            </a:r>
            <a:r>
              <a:rPr lang="en-US" dirty="0"/>
              <a:t>Input values (z) are combined linearly using weights or coefficient values to predict an output value (y). </a:t>
            </a:r>
          </a:p>
          <a:p>
            <a:r>
              <a:rPr lang="en-US" dirty="0">
                <a:latin typeface="KaTeX_Size2"/>
              </a:rPr>
              <a:t>z = B0+B1*x</a:t>
            </a:r>
          </a:p>
          <a:p>
            <a:r>
              <a:rPr lang="pl-PL" dirty="0">
                <a:solidFill>
                  <a:srgbClr val="00B0F0"/>
                </a:solidFill>
                <a:latin typeface="KaTeX_Size2"/>
              </a:rPr>
              <a:t>ln⁡(P(x)/(1−P(x)​) =</a:t>
            </a:r>
            <a:r>
              <a:rPr lang="en-US" dirty="0">
                <a:solidFill>
                  <a:srgbClr val="00B0F0"/>
                </a:solidFill>
                <a:latin typeface="KaTeX_Size2"/>
              </a:rPr>
              <a:t>B0+B1*x</a:t>
            </a:r>
          </a:p>
          <a:p>
            <a:r>
              <a:rPr lang="pl-PL" dirty="0">
                <a:solidFill>
                  <a:srgbClr val="00B0F0"/>
                </a:solidFill>
                <a:latin typeface="KaTeX_Size2"/>
              </a:rPr>
              <a:t>ln(odds) = B0 + B1 * X</a:t>
            </a:r>
          </a:p>
          <a:p>
            <a:endParaRPr lang="en-US" dirty="0">
              <a:solidFill>
                <a:srgbClr val="00B0F0"/>
              </a:solidFill>
              <a:latin typeface="KaTeX_Size2"/>
            </a:endParaRPr>
          </a:p>
          <a:p>
            <a:endParaRPr lang="pl-PL" dirty="0">
              <a:latin typeface="KaTeX_Size2"/>
            </a:endParaRPr>
          </a:p>
          <a:p>
            <a:endParaRPr lang="en-US" dirty="0">
              <a:latin typeface="KaTeX_Size2"/>
            </a:endParaRPr>
          </a:p>
          <a:p>
            <a:endParaRPr lang="en-US" dirty="0">
              <a:latin typeface="KaTeX_Size2"/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77519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F72B5-4904-A1E1-418D-22D57375D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45"/>
          </a:xfrm>
        </p:spPr>
        <p:txBody>
          <a:bodyPr/>
          <a:lstStyle/>
          <a:p>
            <a:r>
              <a:rPr lang="en-IN" dirty="0"/>
              <a:t>Simplify log odds expression – Alternate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5E211-A0CB-20BE-8825-34BB87675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KaTeX_Main"/>
                <a:ea typeface="+mn-ea"/>
                <a:cs typeface="+mn-cs"/>
              </a:rPr>
              <a:t>Simplifying ln(P(x)/(1−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KaTeX_Math"/>
                <a:ea typeface="+mn-ea"/>
                <a:cs typeface="+mn-cs"/>
              </a:rPr>
              <a:t>P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KaTeX_Main"/>
                <a:ea typeface="+mn-ea"/>
                <a:cs typeface="+mn-cs"/>
              </a:rPr>
              <a:t>(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KaTeX_Math"/>
                <a:ea typeface="+mn-ea"/>
                <a:cs typeface="+mn-cs"/>
              </a:rPr>
              <a:t>x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KaTeX_Main"/>
                <a:ea typeface="+mn-ea"/>
                <a:cs typeface="+mn-cs"/>
              </a:rPr>
              <a:t>)​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KaTeX_Size2"/>
                <a:ea typeface="+mn-ea"/>
                <a:cs typeface="+mn-cs"/>
              </a:rPr>
              <a:t>)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KaTeX_Size2"/>
                <a:ea typeface="+mn-ea"/>
                <a:cs typeface="+mn-cs"/>
              </a:rPr>
              <a:t>In logistic regression, the probability of event 𝑦=1 given input 𝑥 is modeled as: 𝑃(𝑥)=1/1+𝑒^−𝑧,where 𝑧=𝑤𝑇𝑥+𝑏 	</a:t>
            </a:r>
          </a:p>
          <a:p>
            <a:pPr lvl="0"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KaTeX_Size2"/>
                <a:ea typeface="+mn-ea"/>
                <a:cs typeface="+mn-cs"/>
              </a:rPr>
              <a:t>​ln⁡(P(x)/(1−P(x)​) = (1/ 1+e^-</a:t>
            </a:r>
            <a:r>
              <a:rPr lang="en-US" sz="2600" dirty="0">
                <a:latin typeface="KaTeX_Size2"/>
              </a:rPr>
              <a:t>z)/ (1- (1/ 1+e^-z))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KaTeX_Size2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FDD817-4DB7-05F8-2E74-4869D7D2A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803" y="3048300"/>
            <a:ext cx="3515216" cy="2105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491584-285F-AAE1-4F86-16AE1B418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452" y="4321106"/>
            <a:ext cx="1133633" cy="619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49705F-10DE-D811-7EB5-4A591736E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803" y="5237905"/>
            <a:ext cx="2619741" cy="7335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6FAB71-5103-2766-9346-F595A28CB222}"/>
              </a:ext>
            </a:extLst>
          </p:cNvPr>
          <p:cNvSpPr txBox="1"/>
          <p:nvPr/>
        </p:nvSpPr>
        <p:spPr>
          <a:xfrm>
            <a:off x="838200" y="6073254"/>
            <a:ext cx="10257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Logistic regression is linear in the log-odds of the outcome, while the corresponding probability is a nonlinear function of the input features.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255890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00689-2BA2-E225-7827-3FACD4C77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Simplify log odds expression -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0FEDD-6072-7FB1-B8CB-25B893B3C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070C0"/>
                </a:solidFill>
              </a:rPr>
              <a:t>Verify that ln⁡(𝑃(𝑥)/1−𝑃(𝑥))=𝑧</a:t>
            </a:r>
          </a:p>
          <a:p>
            <a:r>
              <a:rPr lang="en-IN" dirty="0"/>
              <a:t>Let 𝑧=2 </a:t>
            </a:r>
          </a:p>
          <a:p>
            <a:pPr marL="0" indent="0">
              <a:buNone/>
            </a:pPr>
            <a:r>
              <a:rPr lang="en-IN" dirty="0"/>
              <a:t>1. </a:t>
            </a:r>
            <a:r>
              <a:rPr lang="en-US" dirty="0"/>
              <a:t>Compute 𝑃(𝑥) using sigmoid</a:t>
            </a:r>
          </a:p>
          <a:p>
            <a:r>
              <a:rPr lang="en-IN" dirty="0"/>
              <a:t>P(x)=1/ 1+e−^z = 	​ 1/ 1+e−^2=1/1+0.1353​≈0.8808</a:t>
            </a:r>
          </a:p>
          <a:p>
            <a:pPr marL="0" indent="0">
              <a:buNone/>
            </a:pPr>
            <a:r>
              <a:rPr lang="en-IN" dirty="0"/>
              <a:t>2. Compute odds 𝑃(𝑥)/1−𝑃(𝑥)=0.8808/1−0.8808 ≈7.389</a:t>
            </a:r>
          </a:p>
          <a:p>
            <a:pPr marL="0" indent="0">
              <a:buNone/>
            </a:pPr>
            <a:r>
              <a:rPr lang="en-US" dirty="0"/>
              <a:t>3. Take natural log: ln⁡(7.389)≈2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686121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11922-44EA-2075-0CF4-623F270F2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1287"/>
          </a:xfrm>
        </p:spPr>
        <p:txBody>
          <a:bodyPr/>
          <a:lstStyle/>
          <a:p>
            <a:r>
              <a:rPr lang="en-IN" dirty="0"/>
              <a:t>Linear regression vs Logistic regression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4B9A5D7-EDF4-AD05-F958-E7CB9E67AA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797" y="1418550"/>
            <a:ext cx="8693624" cy="4122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ABE82F-8170-D917-F804-7D4E96AF4A05}"/>
              </a:ext>
            </a:extLst>
          </p:cNvPr>
          <p:cNvSpPr txBox="1"/>
          <p:nvPr/>
        </p:nvSpPr>
        <p:spPr>
          <a:xfrm>
            <a:off x="259307" y="5540825"/>
            <a:ext cx="119326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Linear regression: </a:t>
            </a:r>
            <a:r>
              <a:rPr lang="en-US" dirty="0"/>
              <a:t>The output 𝑌=b0+b1x is a straight line. It can take any value. So it is fine for continuous predictions but not valid as a probability.</a:t>
            </a:r>
          </a:p>
          <a:p>
            <a:r>
              <a:rPr lang="en-US" dirty="0">
                <a:solidFill>
                  <a:srgbClr val="0070C0"/>
                </a:solidFill>
              </a:rPr>
              <a:t>Logistic Regression: </a:t>
            </a:r>
            <a:r>
              <a:rPr lang="en-US" dirty="0"/>
              <a:t>The output is passed through the sigmoid curve, so predictions are always between 0 and 1. That makes it valid for probability modeling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12793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69F85-3D60-F2D4-A015-699CEC636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DFC86-229D-6C5F-BCF2-26A2718AD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regression vs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1ECBC-456F-F348-1F82-018911DEB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937" y="1593348"/>
            <a:ext cx="10776045" cy="4351338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Linear regression </a:t>
            </a:r>
            <a:r>
              <a:rPr lang="en-US" dirty="0"/>
              <a:t>directly predicts a continuous response Y^</a:t>
            </a:r>
          </a:p>
          <a:p>
            <a:r>
              <a:rPr lang="en-US" dirty="0"/>
              <a:t>Linear Regression Y^=B0​+B1​X, With B0​=−4, B1=1, X=5:Y^=1</a:t>
            </a:r>
          </a:p>
          <a:p>
            <a:r>
              <a:rPr lang="en-US" dirty="0">
                <a:solidFill>
                  <a:srgbClr val="00B0F0"/>
                </a:solidFill>
              </a:rPr>
              <a:t>Logistic regression </a:t>
            </a:r>
            <a:r>
              <a:rPr lang="en-US" dirty="0"/>
              <a:t>models the log-odds as a linear function of the input and transforms the resulting linear predictor into a probability using the sigmoid function.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373938-1B13-2423-1C0B-C00B1A432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48" y="3942321"/>
            <a:ext cx="8685516" cy="257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7538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AD7F-766B-4C53-B897-715F993C2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338"/>
            <a:ext cx="10515600" cy="697954"/>
          </a:xfrm>
        </p:spPr>
        <p:txBody>
          <a:bodyPr/>
          <a:lstStyle/>
          <a:p>
            <a:r>
              <a:rPr lang="en-IN" dirty="0"/>
              <a:t>How Logistic Regression Predicts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E8E3-3BB2-4AAC-ABCA-7AE18D40B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1478"/>
            <a:ext cx="10515600" cy="4875485"/>
          </a:xfrm>
        </p:spPr>
        <p:txBody>
          <a:bodyPr>
            <a:normAutofit/>
          </a:bodyPr>
          <a:lstStyle/>
          <a:p>
            <a:r>
              <a:rPr lang="en-US" sz="2000" dirty="0"/>
              <a:t>The linear combination z=b0+b1x represents the log-odds of the positive class (y=1). </a:t>
            </a:r>
          </a:p>
          <a:p>
            <a:r>
              <a:rPr lang="en-US" sz="2000" dirty="0"/>
              <a:t>The sigmoid function then transforms z into a probability between 0 and 1. 	​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125484-7FD9-13C5-A5A7-BABB7C7F7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58" y="2206852"/>
            <a:ext cx="2425825" cy="4572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BAAB98-14A0-4810-D8CD-7FBA45B11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649" y="2206851"/>
            <a:ext cx="5900236" cy="45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9570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01FD4-79FB-42D4-BD96-FD3B6E550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 Data for Logistic Regression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02CA5-8675-41EA-94E7-8DFCD231C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008"/>
            <a:ext cx="10515600" cy="480491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assumptions made by logistic regression about the distribution of data is much the same as the assumptions made in linear regression. </a:t>
            </a:r>
          </a:p>
          <a:p>
            <a:r>
              <a:rPr lang="en-US" dirty="0"/>
              <a:t>in predictive modeling we are focused on making accurate predictions</a:t>
            </a:r>
          </a:p>
          <a:p>
            <a:r>
              <a:rPr lang="en-US" dirty="0">
                <a:solidFill>
                  <a:srgbClr val="00B0F0"/>
                </a:solidFill>
              </a:rPr>
              <a:t>Binary Output Variable: </a:t>
            </a:r>
            <a:r>
              <a:rPr lang="en-US" dirty="0"/>
              <a:t>logistic regression is intended for binary (two-class) classification problems. </a:t>
            </a:r>
          </a:p>
          <a:p>
            <a:r>
              <a:rPr lang="en-US" dirty="0"/>
              <a:t>Logistic regression predicts the probability that an instance belongs to class y=1. The predicted probability can then be converted into a class label (0 or 1) using a classification threshold.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Note: 0.5 is a common threshold, but it is not mandatory; the threshold can be adjusted depending on the application.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E8114C-137F-232F-BBBD-365EDD493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290" y="4237683"/>
            <a:ext cx="2940201" cy="80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42777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01FD4-79FB-42D4-BD96-FD3B6E550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 Data for Logistic Regression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02CA5-8675-41EA-94E7-8DFCD231C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Remove Noise: </a:t>
            </a:r>
            <a:r>
              <a:rPr lang="en-US" dirty="0"/>
              <a:t>Logistic regression assumes no error in the output variable (y), consider removing outliers and possibly misclassified instances from  training data.</a:t>
            </a:r>
          </a:p>
          <a:p>
            <a:r>
              <a:rPr lang="en-US" dirty="0">
                <a:solidFill>
                  <a:srgbClr val="00B0F0"/>
                </a:solidFill>
              </a:rPr>
              <a:t>Gaussian Distribution: </a:t>
            </a:r>
            <a:r>
              <a:rPr lang="en-US" dirty="0"/>
              <a:t>Logistic regression is a linear algorithm (with a nonlinear transform on output). </a:t>
            </a:r>
          </a:p>
          <a:p>
            <a:r>
              <a:rPr lang="en-US" dirty="0"/>
              <a:t>It does assume a linear relationship between the input variables with the output. </a:t>
            </a:r>
          </a:p>
          <a:p>
            <a:r>
              <a:rPr lang="en-US" dirty="0"/>
              <a:t>Data transforms of our input variables that better expose this linear relationship can result in a more accurate model.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157875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01FD4-79FB-42D4-BD96-FD3B6E550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 Data for Logistic Regression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02CA5-8675-41EA-94E7-8DFCD231C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Remove Correlated Inputs: </a:t>
            </a:r>
            <a:r>
              <a:rPr lang="en-US" dirty="0"/>
              <a:t>Like linear regression, the model can overfit if we have multiple highly-correlated inputs. </a:t>
            </a:r>
          </a:p>
          <a:p>
            <a:r>
              <a:rPr lang="en-US" dirty="0"/>
              <a:t>Consider calculating the pairwise correlations between all inputs and removing highly correlated inputs.</a:t>
            </a:r>
          </a:p>
          <a:p>
            <a:r>
              <a:rPr lang="en-US" dirty="0">
                <a:solidFill>
                  <a:srgbClr val="00B0F0"/>
                </a:solidFill>
              </a:rPr>
              <a:t>Fail to Converge: </a:t>
            </a:r>
            <a:r>
              <a:rPr lang="en-US" dirty="0"/>
              <a:t>It is possible for the expected likelihood estimation process that learns the coefficients to fail to converge. </a:t>
            </a:r>
          </a:p>
          <a:p>
            <a:r>
              <a:rPr lang="en-US" dirty="0"/>
              <a:t>This can happen if there are many highly correlated inputs in our data or the data is very sparse (e.g. lots of zeros in input data).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9868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21401</TotalTime>
  <Words>6717</Words>
  <Application>Microsoft Office PowerPoint</Application>
  <PresentationFormat>Widescreen</PresentationFormat>
  <Paragraphs>625</Paragraphs>
  <Slides>99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12" baseType="lpstr">
      <vt:lpstr>Arial</vt:lpstr>
      <vt:lpstr>Calibri</vt:lpstr>
      <vt:lpstr>Calibri Light</vt:lpstr>
      <vt:lpstr>Cambria Math</vt:lpstr>
      <vt:lpstr>CMBX12</vt:lpstr>
      <vt:lpstr>CMMI12</vt:lpstr>
      <vt:lpstr>CMR12</vt:lpstr>
      <vt:lpstr>Courier New</vt:lpstr>
      <vt:lpstr>KaTeX_Main</vt:lpstr>
      <vt:lpstr>KaTeX_Math</vt:lpstr>
      <vt:lpstr>KaTeX_Size2</vt:lpstr>
      <vt:lpstr>Times New Roman</vt:lpstr>
      <vt:lpstr>Office Theme</vt:lpstr>
      <vt:lpstr>L7 Logistic Regression</vt:lpstr>
      <vt:lpstr>Regression Vs. Classification Problems</vt:lpstr>
      <vt:lpstr>Logistic Regression</vt:lpstr>
      <vt:lpstr>Logistic Regression</vt:lpstr>
      <vt:lpstr>Logistic Regression</vt:lpstr>
      <vt:lpstr>Standard logistic function - Graph</vt:lpstr>
      <vt:lpstr>Standard logistic function - Graph</vt:lpstr>
      <vt:lpstr>Verify the output of sigmoid function g(z)</vt:lpstr>
      <vt:lpstr>Verify the output of sigmoid function g(z)</vt:lpstr>
      <vt:lpstr>Sigmoid Function</vt:lpstr>
      <vt:lpstr>Logistic Regression</vt:lpstr>
      <vt:lpstr>Sigmoid function</vt:lpstr>
      <vt:lpstr>How Logistic Regression Predicts Probabilities</vt:lpstr>
      <vt:lpstr>Logistic Regression Models a Probability </vt:lpstr>
      <vt:lpstr>Derivation of Sigmoid function </vt:lpstr>
      <vt:lpstr>Logistic Regression</vt:lpstr>
      <vt:lpstr>How Logistic Regression Predicts Probabilities</vt:lpstr>
      <vt:lpstr>Making Predictions with Logistic Regression</vt:lpstr>
      <vt:lpstr>Making Predictions with Logistic Regression</vt:lpstr>
      <vt:lpstr>Derivation of the update equation for logistic regression using stochastic gradient descent</vt:lpstr>
      <vt:lpstr>Logistic Regression Model: </vt:lpstr>
      <vt:lpstr>Cost function</vt:lpstr>
      <vt:lpstr>Explanation of the terms</vt:lpstr>
      <vt:lpstr>Derivation of the update equations</vt:lpstr>
      <vt:lpstr>SGD - Derivation of the update equations</vt:lpstr>
      <vt:lpstr>SGD - Update equations</vt:lpstr>
      <vt:lpstr>BGD - Update equations</vt:lpstr>
      <vt:lpstr>Logistic Regression by Stochastic Gradient Descent Problem Statement 1- for one Epoch</vt:lpstr>
      <vt:lpstr>Training data - Problem Statement 1</vt:lpstr>
      <vt:lpstr>SGD </vt:lpstr>
      <vt:lpstr>SGD</vt:lpstr>
      <vt:lpstr>SGD</vt:lpstr>
      <vt:lpstr>Loss Computation</vt:lpstr>
      <vt:lpstr>PowerPoint Presentation</vt:lpstr>
      <vt:lpstr>Logistic Regression by Batch Gradient Descent Problem Statement 1 - for four Epochs</vt:lpstr>
      <vt:lpstr>SGD vs. BGD</vt:lpstr>
      <vt:lpstr>BGD - Update equations</vt:lpstr>
      <vt:lpstr>Linear Regression using SGD vs. BGD</vt:lpstr>
      <vt:lpstr>Logistic Regression using SGD vs BGD</vt:lpstr>
      <vt:lpstr>Training data - Problem Statement 1</vt:lpstr>
      <vt:lpstr>Logistic Regression by Batch Gradient Descent</vt:lpstr>
      <vt:lpstr>Logistic Regression by Batch Gradient Descent</vt:lpstr>
      <vt:lpstr>Epoch 1 - start with b_0=0,b_1=0</vt:lpstr>
      <vt:lpstr>Epoch 1 - start with b_0=0,b_1=0</vt:lpstr>
      <vt:lpstr>Logistic Regression by Batch Gradient Descent - Epoch 1</vt:lpstr>
      <vt:lpstr>Epoch 1 loss table – Average Loss </vt:lpstr>
      <vt:lpstr>Epoch 2 - start with b_0=0,b_1=0.005</vt:lpstr>
      <vt:lpstr>Epoch 2 - start with b_0=0,b_1=0.005</vt:lpstr>
      <vt:lpstr>Epoch 2 loss table</vt:lpstr>
      <vt:lpstr>Epoch 3</vt:lpstr>
      <vt:lpstr>Epoch 3</vt:lpstr>
      <vt:lpstr>Epoch 3 – Gradient Computation</vt:lpstr>
      <vt:lpstr>Epoch 3 - Parameter update</vt:lpstr>
      <vt:lpstr>Epoch 3  - Loss computation </vt:lpstr>
      <vt:lpstr>List of parameters</vt:lpstr>
      <vt:lpstr>Epoch 4 :start with b_0≈-0.000093,"  " b_1≈0.01472</vt:lpstr>
      <vt:lpstr>Epoch 4 :start with b_0≈-0.000093,"  " b_1≈0.01472</vt:lpstr>
      <vt:lpstr>Loss progression</vt:lpstr>
      <vt:lpstr>Initial loss for both BGD and SGD - before any parameter update</vt:lpstr>
      <vt:lpstr>How to compute the initial loss?</vt:lpstr>
      <vt:lpstr>Initial Loss (Before Epoch 1)</vt:lpstr>
      <vt:lpstr>Initial Loss (Before Epoch 1)</vt:lpstr>
      <vt:lpstr>SGD vs. BGD</vt:lpstr>
      <vt:lpstr>Illustration of update frequency in BGD vs. SGD</vt:lpstr>
      <vt:lpstr>Illustration of epoch in BGD vs. SGD</vt:lpstr>
      <vt:lpstr>Parameter Updates per Epoch in BGD vs. SGD</vt:lpstr>
      <vt:lpstr>Summary: SGD vs. BGD</vt:lpstr>
      <vt:lpstr>Logistic Regression by Stochastic Gradient Descent with two input variables - Problem Statement 2</vt:lpstr>
      <vt:lpstr>Training data - Problem Statement 2</vt:lpstr>
      <vt:lpstr>Logistic Regression by Stochastic Gradient Descent </vt:lpstr>
      <vt:lpstr>Logistic Regression by Stochastic Gradient Descent </vt:lpstr>
      <vt:lpstr>Logistic Regression by Stochastic Gradient Descent </vt:lpstr>
      <vt:lpstr>Problem Statement 3</vt:lpstr>
      <vt:lpstr>Training dataset - Problem Statement 3</vt:lpstr>
      <vt:lpstr>Logistic Regression Dataset – X1 vs X2</vt:lpstr>
      <vt:lpstr>Logistic Regression</vt:lpstr>
      <vt:lpstr>Logistic Regression by Stochastic Gradient Descent </vt:lpstr>
      <vt:lpstr>Logistic Regression by Stochastic Gradient Descent </vt:lpstr>
      <vt:lpstr>Logistic Regression by Stochastic Gradient Descent </vt:lpstr>
      <vt:lpstr>PowerPoint Presentation</vt:lpstr>
      <vt:lpstr>Applying stochastic gradient descent to the problem of finding the coefficients for the logistic regression model</vt:lpstr>
      <vt:lpstr>Logistic Regression by Stochastic Gradient Descent </vt:lpstr>
      <vt:lpstr>Logistic Regression with Gradient Descent - Accuracy versus Iteration</vt:lpstr>
      <vt:lpstr>Odds and log odds</vt:lpstr>
      <vt:lpstr>Range: Probability vs. Odds vs. Logit</vt:lpstr>
      <vt:lpstr>Odds and log odds - Background</vt:lpstr>
      <vt:lpstr>Odds and log odds</vt:lpstr>
      <vt:lpstr>Probability vs. Odds  and Probability vs. Logit</vt:lpstr>
      <vt:lpstr>Odds and log odds - Summary</vt:lpstr>
      <vt:lpstr>Problem Statement</vt:lpstr>
      <vt:lpstr>Simplify log odds expression</vt:lpstr>
      <vt:lpstr>Simplify log odds expression – Alternate way</vt:lpstr>
      <vt:lpstr>Simplify log odds expression - Verification</vt:lpstr>
      <vt:lpstr>Linear regression vs Logistic regression</vt:lpstr>
      <vt:lpstr>Linear regression vs Logistic regression</vt:lpstr>
      <vt:lpstr>How Logistic Regression Predicts Probabilities</vt:lpstr>
      <vt:lpstr>Prepare Data for Logistic Regression </vt:lpstr>
      <vt:lpstr>Prepare Data for Logistic Regression </vt:lpstr>
      <vt:lpstr>Prepare Data for Logistic Regression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L5 Logistic Regression</dc:title>
  <dc:creator>Ashalatha Nayak [MAHE-MIT]</dc:creator>
  <cp:lastModifiedBy>Venkatesh A Bhandage [MAHE-MIT]</cp:lastModifiedBy>
  <cp:revision>259</cp:revision>
  <dcterms:created xsi:type="dcterms:W3CDTF">2023-08-08T09:18:47Z</dcterms:created>
  <dcterms:modified xsi:type="dcterms:W3CDTF">2026-08-24T07:07:58Z</dcterms:modified>
</cp:coreProperties>
</file>